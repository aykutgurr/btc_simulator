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KONUŞMA METNİ:
Merhaba, ben [İsim]. Bugün sizlere geliştirdiğimiz BTC Futures Trading Simulator'ı tanıtacağım.
Bu platform, Bitcoin vadeli işlem piyasasında strateji geliştirmek isteyen herkesin gerçek para riske atmadan test edebileceği, yapay zeka destekli bir simülasyon ortamıdır.
Sunum yaklaşık 12-15 dakika sürecek. Önce problemi, ardından çözümümüzü ve inovatif yanlarını aktaracağım.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KONUŞMA METNİ:
Kripto para piyasası büyük fırsatlar sunarken, aynı zamanda son derece riskli bir alan.
Araştırmalar, yeni yatırımcıların büyük çoğunluğunun ilk yılda zarar ettiğini gösteriyor.
Özellikle Bitcoin vadeli işlemleri —yani futures— kaldıraçlı yapısı nedeniyle en riskli araçlardan biri.
Sorun şu: Bir stratejiyi test etmenin tek yolu ya gerçek para yatırmak, ya da karmaşık yazılım araçlarıyla boğuşmak.
Peki bu ikisi arasında başka bir yol yok mu?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KONUŞMA METNİ:
Piyasada birçok araç var, fakat hiçbiri bütünsel bir çözüm sunmuyor.
Geleneksel backtesting araçları statik: geçmişe bakıyorsunuz, ama gerçek zamanlı bir simülasyon yok.
Demo hesaplar borsa tarafından sunuluyor ve çoğu zaman kaldıraç mekanizmaları gerçekçi değil.
Algoritmik platformlar ise çok teknik: strateji geliştirmek için Python veya C++ bilmek gerekiyor.
Biz bu boşluğu doldurmak istedik.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KONUŞMA METNİ:
İşte biz bunu inşa ettik: BTC Futures Trading Simulator.
Özünde üç şey yapıyor:
Birincisi, gerçek piyasa koşullarını simüle ediyor — kaldıraç, likidisyon, komisyon, gerçek Bitcoin fiyat verileri... hepsi var.
İkincisi, yapay zeka destekli bot üretici sayesinde programlama bilgisi olmayan biri bile kendi strateji botunu oluşturabiliyor.
Üçüncüsü, her stratejiyi bilimsel metriklerle ölçüp karşılaştırabiliyorsunuz.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KONUŞMA METNİ:
Platform dört basit adımda çalışıyor.
Önce veri yüklüyorsunuz — gerçek Bitcoin geçmiş verileri veya yfinance üzerinden anlık veri.
Sonra strateji seçiyorsunuz — sistemde hazır botlar var ya da siz kendinizinki oluşturabiliyorsunuz.
Simülasyonu başlatıyorsunuz: platform sanki gerçek bir borsa gibi davranıyor.
Son olarak sonuçları analiz ediyorsunuz.
Ve bu döngüyü istediğiniz kadar tekrarlayabilirsiniz.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KONUŞMA METNİ:
Sistemin en kritik özelliği gerçekçiliği.
Gerçek borsada ne varsa burada da var: kaldıraç, likidisyon, stop-loss, take-profit.
Örneğin 10x kaldıraçla Bitcoin alırsanız ve fiyat %10 düşerse — gerçek borsada olduğu gibi — pozisyonunuz likide edilir.
Bu deneyimi yaşamak, yatırımcıya çok değerli bir öğretim sağlıyor; üstelik gerçek para kaybetmeden.
Ayrıca simülasyonu 100 kat hızlandırarak aylarca olan geçmişi dakikalar içinde test edebiliyorsunuz.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KONUŞMA METNİ:
Sistemde altıdan fazla hazır trading botu var.
Her biri farklı bir strateji yaklaşımı kullanıyor: klasik teknik analiz, makine öğrenmesi, kurumsal işlem teorisi ve ortalama dönüş stratejisi.
Bunları tek tek veya aynı anda çalıştırıp karşılaştırabiliyorsunuz.
Ama asıl inovatif kısım şurası: sadece hazır botlarla sınırlı değilsiniz.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KONUŞMA METNİ:
İşte platformun en inovatif özelliği: Yapay Zeka ile Bot Üretici.
Düşünün: strateji fikrinizi normal bir cümleyle yazıyorsunuz — "RSI 30'un altına düşünce al, 70'in üstüne çıkınca sat" gibi.
Yapay zeka bu açıklamayı alıp otomatik olarak çalışan bir Python botu üretiyor.
Üretilen kod güvenlik kontrolünden geçiyor, test ediliyor, sonra sisteme ekleniyor.
Sıfır programlama bilgisi. Tamamen doğal dil ile bot oluşturabiliyorsunuz.
Bu, kripto dünyasında daha önce böylesine erişilebilir hale getirilmemiş bir şey.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KONUŞMA METNİ:
Şimdi arayüzü görelim.
[EKRAN GÖRÜNTÜSÜNܠ BURAYA EKLEYIN: Uygulamayı çalıştırın, tarayıcıda localhost:5173'ü açın, birinci sekme olan "Grafik &amp; İşlem" sayfasının ekran görüntüsünü alın]
İlk sekmede tam bir borsa arayüzü görüyorsunuz.
Sol üstte gerçek zamanlı mum grafik. Teknik indikatörler — RSI, MACD, hareketli ortalamalar — grafiğin üzerinde.
Sağda ise işlem paneli: buradan long veya short pozisyon açabilir, kaldıraç oranınızı belirleyebilir, stop-loss koyabilirsiniz.
Alt tarafta ise açık ve kapanmış işlemlerinizin listesi.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KONUŞMA METNİ:
İkinci sekmede bot yönetimi var.
[EKRAN GÖRÜNTÜSÜNܠ BURAYA EKLEYIN: "Botlar &amp; İstatistikler" sekmesinin ekran görüntüsünü alın. Mümkünse "Yeni Bot Üret" formunu açık gösterin]
Soldaki listede tüm botlar görünüyor. Her biri için açma/kapama toggle var.
Sağ tarafta strateji performans metrikleri: kazanma oranı yüzde kaç, toplam kar/zarar ne, maksimum düşüş ne olmuş.
"Yeni Bot Üret" butonuna basınca AI bot üretici açılıyor — bunu az önce anlattım.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KONUŞMA METNİ:
Bu platform üç farklı kitleye hitap ediyor.
Birincisi yeni yatırımcılar: bu kitle için en büyük değer, gerçek para kaybetmeden öğrenme fırsatı.
İkincisi deneyimli traderlar: onlar için önemli olan strateji optimizasyonu ve karşılaştırma.
Üçüncüsü araştırmacılar: algoritmik trading ve finans üzerine çalışan akademisyenler için güçlü bir test ortamı.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KONUŞMA METNİ:
Projeyi diğer araçlardan ayıran dört temel inovatif yön var.
Birincisi, yapay zekayı buluta bağlı olmadan yerel olarak çalıştırıyoruz. Bu hem gizliliği koruyor hem de internet bağlantısı gerektirmiyor.
İkincisi, doğal dilden çalışan koda geçiş — bu gerçek anlamda programlama bariyerini ortadan kaldırıyor.
Üçüncüsü, üç farklı bot türünün —kural tabanlı, ML ve AI üretimi— aynı ortamda birlikte çalışması.
Dördüncüsü, güvenlik. AI'nın ürettiği kodun güvenlik kontrolünden geçmeden sisteme eklenmemesi kritik bir özellik.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KONUŞMA METNİ:
Özetlemek gerekirse: Bu platform üç temel sorunu çözüyor.
Birincisi, yatırımcıları gerçek para kaybetmekten koruyor.
İkincisi, programlama bilgisi olmayan kişilere algoritmik trading kapısını açıyor.
Üçüncüsü, farklı stratejileri bilimsel olarak ölçmenizi sağlıyor.
Gelecekte çoklu kripto para desteği, bulut tabanlı bot paylaşımı ve gerçek borsa entegrasyonu gibi özellikler planlanıyor.
Dinlediğiniz için teşekkür ederim. Sorularınızı alabilirim.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F7931A"/>
          </a:solidFill>
          <a:ln w="12700">
            <a:solidFill>
              <a:srgbClr val="F7931A"/>
            </a:solidFill>
            <a:prstDash val="solid"/>
          </a:ln>
        </p:spPr>
      </p:sp>
      <p:sp>
        <p:nvSpPr>
          <p:cNvPr id="3" name="Shape 1"/>
          <p:cNvSpPr/>
          <p:nvPr/>
        </p:nvSpPr>
        <p:spPr>
          <a:xfrm>
            <a:off x="6949440" y="-914400"/>
            <a:ext cx="3840480" cy="3840480"/>
          </a:xfrm>
          <a:prstGeom prst="ellipse">
            <a:avLst/>
          </a:prstGeom>
          <a:solidFill>
            <a:srgbClr val="112240"/>
          </a:solidFill>
          <a:ln w="25400">
            <a:solidFill>
              <a:srgbClr val="1E3D6B"/>
            </a:solidFill>
            <a:prstDash val="solid"/>
          </a:ln>
        </p:spPr>
      </p:sp>
      <p:sp>
        <p:nvSpPr>
          <p:cNvPr id="4" name="Shape 2"/>
          <p:cNvSpPr/>
          <p:nvPr/>
        </p:nvSpPr>
        <p:spPr>
          <a:xfrm>
            <a:off x="7498080" y="-365760"/>
            <a:ext cx="2743200" cy="2743200"/>
          </a:xfrm>
          <a:prstGeom prst="ellipse">
            <a:avLst/>
          </a:prstGeom>
          <a:solidFill>
            <a:srgbClr val="F7931A">
              <a:alpha val="15000"/>
            </a:srgbClr>
          </a:solidFill>
          <a:ln w="12700">
            <a:solidFill>
              <a:srgbClr val="F7931A">
                <a:alpha val="30000"/>
              </a:srgbClr>
            </a:solidFill>
            <a:prstDash val="solid"/>
          </a:ln>
        </p:spPr>
      </p:sp>
      <p:sp>
        <p:nvSpPr>
          <p:cNvPr id="5" name="Text 3"/>
          <p:cNvSpPr/>
          <p:nvPr/>
        </p:nvSpPr>
        <p:spPr>
          <a:xfrm>
            <a:off x="7772400" y="45720"/>
            <a:ext cx="2011680" cy="1463040"/>
          </a:xfrm>
          <a:prstGeom prst="rect">
            <a:avLst/>
          </a:prstGeom>
          <a:noFill/>
          <a:ln/>
        </p:spPr>
        <p:txBody>
          <a:bodyPr wrap="square" rtlCol="0" anchor="ctr"/>
          <a:lstStyle/>
          <a:p>
            <a:pPr algn="ctr" indent="0" marL="0">
              <a:buNone/>
            </a:pPr>
            <a:r>
              <a:rPr lang="en-US" sz="7200" b="1" dirty="0">
                <a:solidFill>
                  <a:srgbClr val="F7931A"/>
                </a:solidFill>
              </a:rPr>
              <a:t>₿</a:t>
            </a:r>
            <a:endParaRPr lang="en-US" sz="7200" dirty="0"/>
          </a:p>
        </p:txBody>
      </p:sp>
      <p:sp>
        <p:nvSpPr>
          <p:cNvPr id="6" name="Text 4"/>
          <p:cNvSpPr/>
          <p:nvPr/>
        </p:nvSpPr>
        <p:spPr>
          <a:xfrm>
            <a:off x="502920" y="1463040"/>
            <a:ext cx="6858000" cy="777240"/>
          </a:xfrm>
          <a:prstGeom prst="rect">
            <a:avLst/>
          </a:prstGeom>
          <a:noFill/>
          <a:ln/>
        </p:spPr>
        <p:txBody>
          <a:bodyPr wrap="square" lIns="0" tIns="0" rIns="0" bIns="0" rtlCol="0" anchor="ctr"/>
          <a:lstStyle/>
          <a:p>
            <a:pPr algn="l" indent="0" marL="0">
              <a:buNone/>
            </a:pPr>
            <a:r>
              <a:rPr lang="en-US" sz="4800" b="1" dirty="0">
                <a:solidFill>
                  <a:srgbClr val="F1F5F9"/>
                </a:solidFill>
              </a:rPr>
              <a:t>BTC Futures</a:t>
            </a:r>
            <a:endParaRPr lang="en-US" sz="4800" dirty="0"/>
          </a:p>
        </p:txBody>
      </p:sp>
      <p:sp>
        <p:nvSpPr>
          <p:cNvPr id="7" name="Text 5"/>
          <p:cNvSpPr/>
          <p:nvPr/>
        </p:nvSpPr>
        <p:spPr>
          <a:xfrm>
            <a:off x="502920" y="2194560"/>
            <a:ext cx="6858000" cy="777240"/>
          </a:xfrm>
          <a:prstGeom prst="rect">
            <a:avLst/>
          </a:prstGeom>
          <a:noFill/>
          <a:ln/>
        </p:spPr>
        <p:txBody>
          <a:bodyPr wrap="square" lIns="0" tIns="0" rIns="0" bIns="0" rtlCol="0" anchor="ctr"/>
          <a:lstStyle/>
          <a:p>
            <a:pPr algn="l" indent="0" marL="0">
              <a:buNone/>
            </a:pPr>
            <a:r>
              <a:rPr lang="en-US" sz="4800" b="1" dirty="0">
                <a:solidFill>
                  <a:srgbClr val="F7931A"/>
                </a:solidFill>
              </a:rPr>
              <a:t>Trading Simulator</a:t>
            </a:r>
            <a:endParaRPr lang="en-US" sz="4800" dirty="0"/>
          </a:p>
        </p:txBody>
      </p:sp>
      <p:sp>
        <p:nvSpPr>
          <p:cNvPr id="8" name="Text 6"/>
          <p:cNvSpPr/>
          <p:nvPr/>
        </p:nvSpPr>
        <p:spPr>
          <a:xfrm>
            <a:off x="502920" y="3063240"/>
            <a:ext cx="7772400" cy="384048"/>
          </a:xfrm>
          <a:prstGeom prst="rect">
            <a:avLst/>
          </a:prstGeom>
          <a:noFill/>
          <a:ln/>
        </p:spPr>
        <p:txBody>
          <a:bodyPr wrap="square" lIns="0" tIns="0" rIns="0" bIns="0" rtlCol="0" anchor="ctr"/>
          <a:lstStyle/>
          <a:p>
            <a:pPr algn="l" indent="0" marL="0">
              <a:buNone/>
            </a:pPr>
            <a:r>
              <a:rPr lang="en-US" sz="1500" i="1" dirty="0">
                <a:solidFill>
                  <a:srgbClr val="94A3B8"/>
                </a:solidFill>
              </a:rPr>
              <a:t>Yapay Zeka Destekli Bitcoin Vadeli İşlem Simülasyon Platformu</a:t>
            </a:r>
            <a:endParaRPr lang="en-US" sz="1500" dirty="0"/>
          </a:p>
        </p:txBody>
      </p:sp>
      <p:sp>
        <p:nvSpPr>
          <p:cNvPr id="9" name="Shape 7"/>
          <p:cNvSpPr/>
          <p:nvPr/>
        </p:nvSpPr>
        <p:spPr>
          <a:xfrm>
            <a:off x="502920" y="3520440"/>
            <a:ext cx="4114800" cy="36576"/>
          </a:xfrm>
          <a:prstGeom prst="rect">
            <a:avLst/>
          </a:prstGeom>
          <a:solidFill>
            <a:srgbClr val="F7931A">
              <a:alpha val="60000"/>
            </a:srgbClr>
          </a:solidFill>
          <a:ln w="12700">
            <a:solidFill>
              <a:srgbClr val="F7931A">
                <a:alpha val="60000"/>
              </a:srgbClr>
            </a:solidFill>
            <a:prstDash val="solid"/>
          </a:ln>
        </p:spPr>
      </p:sp>
      <p:sp>
        <p:nvSpPr>
          <p:cNvPr id="10" name="Shape 8"/>
          <p:cNvSpPr/>
          <p:nvPr/>
        </p:nvSpPr>
        <p:spPr>
          <a:xfrm>
            <a:off x="502920" y="3794760"/>
            <a:ext cx="2468880" cy="320040"/>
          </a:xfrm>
          <a:prstGeom prst="roundRect">
            <a:avLst>
              <a:gd name="adj" fmla="val 28571"/>
            </a:avLst>
          </a:prstGeom>
          <a:solidFill>
            <a:srgbClr val="1A2F4A"/>
          </a:solidFill>
          <a:ln w="12700">
            <a:solidFill>
              <a:srgbClr val="2A4A6E"/>
            </a:solidFill>
            <a:prstDash val="solid"/>
          </a:ln>
        </p:spPr>
      </p:sp>
      <p:sp>
        <p:nvSpPr>
          <p:cNvPr id="11" name="Text 9"/>
          <p:cNvSpPr/>
          <p:nvPr/>
        </p:nvSpPr>
        <p:spPr>
          <a:xfrm>
            <a:off x="502920" y="3794760"/>
            <a:ext cx="2468880" cy="320040"/>
          </a:xfrm>
          <a:prstGeom prst="rect">
            <a:avLst/>
          </a:prstGeom>
          <a:noFill/>
          <a:ln/>
        </p:spPr>
        <p:txBody>
          <a:bodyPr wrap="square" lIns="0" tIns="0" rIns="0" bIns="0" rtlCol="0" anchor="ctr"/>
          <a:lstStyle/>
          <a:p>
            <a:pPr algn="ctr" indent="0" marL="0">
              <a:buNone/>
            </a:pPr>
            <a:r>
              <a:rPr lang="en-US" sz="1000" dirty="0">
                <a:solidFill>
                  <a:srgbClr val="22D3EE"/>
                </a:solidFill>
              </a:rPr>
              <a:t>Gerçek Zamanlı Simülasyon</a:t>
            </a:r>
            <a:endParaRPr lang="en-US" sz="1000" dirty="0"/>
          </a:p>
        </p:txBody>
      </p:sp>
      <p:sp>
        <p:nvSpPr>
          <p:cNvPr id="12" name="Shape 10"/>
          <p:cNvSpPr/>
          <p:nvPr/>
        </p:nvSpPr>
        <p:spPr>
          <a:xfrm>
            <a:off x="3246120" y="3794760"/>
            <a:ext cx="2468880" cy="320040"/>
          </a:xfrm>
          <a:prstGeom prst="roundRect">
            <a:avLst>
              <a:gd name="adj" fmla="val 28571"/>
            </a:avLst>
          </a:prstGeom>
          <a:solidFill>
            <a:srgbClr val="1A2F4A"/>
          </a:solidFill>
          <a:ln w="12700">
            <a:solidFill>
              <a:srgbClr val="2A4A6E"/>
            </a:solidFill>
            <a:prstDash val="solid"/>
          </a:ln>
        </p:spPr>
      </p:sp>
      <p:sp>
        <p:nvSpPr>
          <p:cNvPr id="13" name="Text 11"/>
          <p:cNvSpPr/>
          <p:nvPr/>
        </p:nvSpPr>
        <p:spPr>
          <a:xfrm>
            <a:off x="3246120" y="3794760"/>
            <a:ext cx="2468880" cy="320040"/>
          </a:xfrm>
          <a:prstGeom prst="rect">
            <a:avLst/>
          </a:prstGeom>
          <a:noFill/>
          <a:ln/>
        </p:spPr>
        <p:txBody>
          <a:bodyPr wrap="square" lIns="0" tIns="0" rIns="0" bIns="0" rtlCol="0" anchor="ctr"/>
          <a:lstStyle/>
          <a:p>
            <a:pPr algn="ctr" indent="0" marL="0">
              <a:buNone/>
            </a:pPr>
            <a:r>
              <a:rPr lang="en-US" sz="1000" dirty="0">
                <a:solidFill>
                  <a:srgbClr val="22D3EE"/>
                </a:solidFill>
              </a:rPr>
              <a:t>AI Bot Üretimi</a:t>
            </a:r>
            <a:endParaRPr lang="en-US" sz="1000" dirty="0"/>
          </a:p>
        </p:txBody>
      </p:sp>
      <p:sp>
        <p:nvSpPr>
          <p:cNvPr id="14" name="Shape 12"/>
          <p:cNvSpPr/>
          <p:nvPr/>
        </p:nvSpPr>
        <p:spPr>
          <a:xfrm>
            <a:off x="5989320" y="3794760"/>
            <a:ext cx="2468880" cy="320040"/>
          </a:xfrm>
          <a:prstGeom prst="roundRect">
            <a:avLst>
              <a:gd name="adj" fmla="val 28571"/>
            </a:avLst>
          </a:prstGeom>
          <a:solidFill>
            <a:srgbClr val="1A2F4A"/>
          </a:solidFill>
          <a:ln w="12700">
            <a:solidFill>
              <a:srgbClr val="2A4A6E"/>
            </a:solidFill>
            <a:prstDash val="solid"/>
          </a:ln>
        </p:spPr>
      </p:sp>
      <p:sp>
        <p:nvSpPr>
          <p:cNvPr id="15" name="Text 13"/>
          <p:cNvSpPr/>
          <p:nvPr/>
        </p:nvSpPr>
        <p:spPr>
          <a:xfrm>
            <a:off x="5989320" y="3794760"/>
            <a:ext cx="2468880" cy="320040"/>
          </a:xfrm>
          <a:prstGeom prst="rect">
            <a:avLst/>
          </a:prstGeom>
          <a:noFill/>
          <a:ln/>
        </p:spPr>
        <p:txBody>
          <a:bodyPr wrap="square" lIns="0" tIns="0" rIns="0" bIns="0" rtlCol="0" anchor="ctr"/>
          <a:lstStyle/>
          <a:p>
            <a:pPr algn="ctr" indent="0" marL="0">
              <a:buNone/>
            </a:pPr>
            <a:r>
              <a:rPr lang="en-US" sz="1000" dirty="0">
                <a:solidFill>
                  <a:srgbClr val="22D3EE"/>
                </a:solidFill>
              </a:rPr>
              <a:t>Çoklu Strateji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11480" y="274320"/>
            <a:ext cx="1737360" cy="292608"/>
          </a:xfrm>
          <a:prstGeom prst="roundRect">
            <a:avLst>
              <a:gd name="adj" fmla="val 18750"/>
            </a:avLst>
          </a:prstGeom>
          <a:solidFill>
            <a:srgbClr val="F7931A"/>
          </a:solidFill>
          <a:ln w="12700">
            <a:solidFill>
              <a:srgbClr val="F7931A"/>
            </a:solidFill>
            <a:prstDash val="solid"/>
          </a:ln>
        </p:spPr>
      </p:sp>
      <p:sp>
        <p:nvSpPr>
          <p:cNvPr id="3" name="Text 1"/>
          <p:cNvSpPr/>
          <p:nvPr/>
        </p:nvSpPr>
        <p:spPr>
          <a:xfrm>
            <a:off x="411480" y="274320"/>
            <a:ext cx="1737360" cy="292608"/>
          </a:xfrm>
          <a:prstGeom prst="rect">
            <a:avLst/>
          </a:prstGeom>
          <a:noFill/>
          <a:ln/>
        </p:spPr>
        <p:txBody>
          <a:bodyPr wrap="square" lIns="0" tIns="0" rIns="0" bIns="0" rtlCol="0" anchor="ctr"/>
          <a:lstStyle/>
          <a:p>
            <a:pPr algn="ctr" indent="0" marL="0">
              <a:buNone/>
            </a:pPr>
            <a:r>
              <a:rPr lang="en-US" sz="850" b="1" dirty="0">
                <a:solidFill>
                  <a:srgbClr val="FFFFFF"/>
                </a:solidFill>
              </a:rPr>
              <a:t>PROBLEM TANIMI</a:t>
            </a:r>
            <a:endParaRPr lang="en-US" sz="850" dirty="0"/>
          </a:p>
        </p:txBody>
      </p:sp>
      <p:sp>
        <p:nvSpPr>
          <p:cNvPr id="4" name="Text 2"/>
          <p:cNvSpPr/>
          <p:nvPr/>
        </p:nvSpPr>
        <p:spPr>
          <a:xfrm>
            <a:off x="411480" y="685800"/>
            <a:ext cx="8321040" cy="594360"/>
          </a:xfrm>
          <a:prstGeom prst="rect">
            <a:avLst/>
          </a:prstGeom>
          <a:noFill/>
          <a:ln/>
        </p:spPr>
        <p:txBody>
          <a:bodyPr wrap="square" lIns="0" tIns="0" rIns="0" bIns="0" rtlCol="0" anchor="ctr"/>
          <a:lstStyle/>
          <a:p>
            <a:pPr algn="l" indent="0" marL="0">
              <a:buNone/>
            </a:pPr>
            <a:r>
              <a:rPr lang="en-US" sz="2800" b="1" dirty="0">
                <a:solidFill>
                  <a:srgbClr val="F1F5F9"/>
                </a:solidFill>
              </a:rPr>
              <a:t>Kripto Piyasası: Yüksek Fırsat, Yüksek Risk</a:t>
            </a:r>
            <a:endParaRPr lang="en-US" sz="2800" dirty="0"/>
          </a:p>
        </p:txBody>
      </p:sp>
      <p:sp>
        <p:nvSpPr>
          <p:cNvPr id="5" name="Shape 3"/>
          <p:cNvSpPr/>
          <p:nvPr/>
        </p:nvSpPr>
        <p:spPr>
          <a:xfrm>
            <a:off x="411480" y="1417320"/>
            <a:ext cx="2697480" cy="1737360"/>
          </a:xfrm>
          <a:prstGeom prst="rect">
            <a:avLst/>
          </a:prstGeom>
          <a:solidFill>
            <a:srgbClr val="1A2F4A"/>
          </a:solidFill>
          <a:ln w="12700">
            <a:solidFill>
              <a:srgbClr val="1E3A5F"/>
            </a:solidFill>
            <a:prstDash val="solid"/>
          </a:ln>
        </p:spPr>
      </p:sp>
      <p:sp>
        <p:nvSpPr>
          <p:cNvPr id="6" name="Shape 4"/>
          <p:cNvSpPr/>
          <p:nvPr/>
        </p:nvSpPr>
        <p:spPr>
          <a:xfrm>
            <a:off x="411480" y="1417320"/>
            <a:ext cx="2697480" cy="54864"/>
          </a:xfrm>
          <a:prstGeom prst="rect">
            <a:avLst/>
          </a:prstGeom>
          <a:solidFill>
            <a:srgbClr val="F7931A"/>
          </a:solidFill>
          <a:ln w="12700">
            <a:solidFill>
              <a:srgbClr val="F7931A"/>
            </a:solidFill>
            <a:prstDash val="solid"/>
          </a:ln>
        </p:spPr>
      </p:sp>
      <p:sp>
        <p:nvSpPr>
          <p:cNvPr id="7" name="Text 5"/>
          <p:cNvSpPr/>
          <p:nvPr/>
        </p:nvSpPr>
        <p:spPr>
          <a:xfrm>
            <a:off x="411480" y="1600200"/>
            <a:ext cx="2697480" cy="685800"/>
          </a:xfrm>
          <a:prstGeom prst="rect">
            <a:avLst/>
          </a:prstGeom>
          <a:noFill/>
          <a:ln/>
        </p:spPr>
        <p:txBody>
          <a:bodyPr wrap="square" lIns="0" tIns="0" rIns="0" bIns="0" rtlCol="0" anchor="ctr"/>
          <a:lstStyle/>
          <a:p>
            <a:pPr algn="ctr" indent="0" marL="0">
              <a:buNone/>
            </a:pPr>
            <a:r>
              <a:rPr lang="en-US" sz="3600" b="1" dirty="0">
                <a:solidFill>
                  <a:srgbClr val="F7931A"/>
                </a:solidFill>
              </a:rPr>
              <a:t>%80</a:t>
            </a:r>
            <a:endParaRPr lang="en-US" sz="3600" dirty="0"/>
          </a:p>
        </p:txBody>
      </p:sp>
      <p:sp>
        <p:nvSpPr>
          <p:cNvPr id="8" name="Text 6"/>
          <p:cNvSpPr/>
          <p:nvPr/>
        </p:nvSpPr>
        <p:spPr>
          <a:xfrm>
            <a:off x="411480" y="2304288"/>
            <a:ext cx="2697480" cy="685800"/>
          </a:xfrm>
          <a:prstGeom prst="rect">
            <a:avLst/>
          </a:prstGeom>
          <a:noFill/>
          <a:ln/>
        </p:spPr>
        <p:txBody>
          <a:bodyPr wrap="square" lIns="0" tIns="0" rIns="0" bIns="0" rtlCol="0" anchor="t"/>
          <a:lstStyle/>
          <a:p>
            <a:pPr algn="ctr" indent="0" marL="0">
              <a:buNone/>
            </a:pPr>
            <a:r>
              <a:rPr lang="en-US" sz="1200" dirty="0">
                <a:solidFill>
                  <a:srgbClr val="94A3B8"/>
                </a:solidFill>
              </a:rPr>
              <a:t>Yeni yatırımcı</a:t>
            </a:r>
            <a:endParaRPr lang="en-US" sz="1200" dirty="0"/>
          </a:p>
          <a:p>
            <a:pPr algn="ctr" indent="0" marL="0">
              <a:buNone/>
            </a:pPr>
            <a:r>
              <a:rPr lang="en-US" sz="1200" dirty="0">
                <a:solidFill>
                  <a:srgbClr val="94A3B8"/>
                </a:solidFill>
              </a:rPr>
              <a:t>ilk yılda zarar eder</a:t>
            </a:r>
            <a:endParaRPr lang="en-US" sz="1200" dirty="0"/>
          </a:p>
        </p:txBody>
      </p:sp>
      <p:sp>
        <p:nvSpPr>
          <p:cNvPr id="9" name="Shape 7"/>
          <p:cNvSpPr/>
          <p:nvPr/>
        </p:nvSpPr>
        <p:spPr>
          <a:xfrm>
            <a:off x="3337560" y="1417320"/>
            <a:ext cx="2697480" cy="1737360"/>
          </a:xfrm>
          <a:prstGeom prst="rect">
            <a:avLst/>
          </a:prstGeom>
          <a:solidFill>
            <a:srgbClr val="1A2F4A"/>
          </a:solidFill>
          <a:ln w="12700">
            <a:solidFill>
              <a:srgbClr val="1E3A5F"/>
            </a:solidFill>
            <a:prstDash val="solid"/>
          </a:ln>
        </p:spPr>
      </p:sp>
      <p:sp>
        <p:nvSpPr>
          <p:cNvPr id="10" name="Shape 8"/>
          <p:cNvSpPr/>
          <p:nvPr/>
        </p:nvSpPr>
        <p:spPr>
          <a:xfrm>
            <a:off x="3337560" y="1417320"/>
            <a:ext cx="2697480" cy="54864"/>
          </a:xfrm>
          <a:prstGeom prst="rect">
            <a:avLst/>
          </a:prstGeom>
          <a:solidFill>
            <a:srgbClr val="F7931A"/>
          </a:solidFill>
          <a:ln w="12700">
            <a:solidFill>
              <a:srgbClr val="F7931A"/>
            </a:solidFill>
            <a:prstDash val="solid"/>
          </a:ln>
        </p:spPr>
      </p:sp>
      <p:sp>
        <p:nvSpPr>
          <p:cNvPr id="11" name="Text 9"/>
          <p:cNvSpPr/>
          <p:nvPr/>
        </p:nvSpPr>
        <p:spPr>
          <a:xfrm>
            <a:off x="3337560" y="1600200"/>
            <a:ext cx="2697480" cy="685800"/>
          </a:xfrm>
          <a:prstGeom prst="rect">
            <a:avLst/>
          </a:prstGeom>
          <a:noFill/>
          <a:ln/>
        </p:spPr>
        <p:txBody>
          <a:bodyPr wrap="square" lIns="0" tIns="0" rIns="0" bIns="0" rtlCol="0" anchor="ctr"/>
          <a:lstStyle/>
          <a:p>
            <a:pPr algn="ctr" indent="0" marL="0">
              <a:buNone/>
            </a:pPr>
            <a:r>
              <a:rPr lang="en-US" sz="3600" b="1" dirty="0">
                <a:solidFill>
                  <a:srgbClr val="F7931A"/>
                </a:solidFill>
              </a:rPr>
              <a:t>100x</a:t>
            </a:r>
            <a:endParaRPr lang="en-US" sz="3600" dirty="0"/>
          </a:p>
        </p:txBody>
      </p:sp>
      <p:sp>
        <p:nvSpPr>
          <p:cNvPr id="12" name="Text 10"/>
          <p:cNvSpPr/>
          <p:nvPr/>
        </p:nvSpPr>
        <p:spPr>
          <a:xfrm>
            <a:off x="3337560" y="2304288"/>
            <a:ext cx="2697480" cy="685800"/>
          </a:xfrm>
          <a:prstGeom prst="rect">
            <a:avLst/>
          </a:prstGeom>
          <a:noFill/>
          <a:ln/>
        </p:spPr>
        <p:txBody>
          <a:bodyPr wrap="square" lIns="0" tIns="0" rIns="0" bIns="0" rtlCol="0" anchor="t"/>
          <a:lstStyle/>
          <a:p>
            <a:pPr algn="ctr" indent="0" marL="0">
              <a:buNone/>
            </a:pPr>
            <a:r>
              <a:rPr lang="en-US" sz="1200" dirty="0">
                <a:solidFill>
                  <a:srgbClr val="94A3B8"/>
                </a:solidFill>
              </a:rPr>
              <a:t>Kaldıraç riski</a:t>
            </a:r>
            <a:endParaRPr lang="en-US" sz="1200" dirty="0"/>
          </a:p>
          <a:p>
            <a:pPr algn="ctr" indent="0" marL="0">
              <a:buNone/>
            </a:pPr>
            <a:r>
              <a:rPr lang="en-US" sz="1200" dirty="0">
                <a:solidFill>
                  <a:srgbClr val="94A3B8"/>
                </a:solidFill>
              </a:rPr>
              <a:t>vadeli işlemlerde</a:t>
            </a:r>
            <a:endParaRPr lang="en-US" sz="1200" dirty="0"/>
          </a:p>
        </p:txBody>
      </p:sp>
      <p:sp>
        <p:nvSpPr>
          <p:cNvPr id="13" name="Shape 11"/>
          <p:cNvSpPr/>
          <p:nvPr/>
        </p:nvSpPr>
        <p:spPr>
          <a:xfrm>
            <a:off x="6263640" y="1417320"/>
            <a:ext cx="2697480" cy="1737360"/>
          </a:xfrm>
          <a:prstGeom prst="rect">
            <a:avLst/>
          </a:prstGeom>
          <a:solidFill>
            <a:srgbClr val="1A2F4A"/>
          </a:solidFill>
          <a:ln w="12700">
            <a:solidFill>
              <a:srgbClr val="1E3A5F"/>
            </a:solidFill>
            <a:prstDash val="solid"/>
          </a:ln>
        </p:spPr>
      </p:sp>
      <p:sp>
        <p:nvSpPr>
          <p:cNvPr id="14" name="Shape 12"/>
          <p:cNvSpPr/>
          <p:nvPr/>
        </p:nvSpPr>
        <p:spPr>
          <a:xfrm>
            <a:off x="6263640" y="1417320"/>
            <a:ext cx="2697480" cy="54864"/>
          </a:xfrm>
          <a:prstGeom prst="rect">
            <a:avLst/>
          </a:prstGeom>
          <a:solidFill>
            <a:srgbClr val="F7931A"/>
          </a:solidFill>
          <a:ln w="12700">
            <a:solidFill>
              <a:srgbClr val="F7931A"/>
            </a:solidFill>
            <a:prstDash val="solid"/>
          </a:ln>
        </p:spPr>
      </p:sp>
      <p:sp>
        <p:nvSpPr>
          <p:cNvPr id="15" name="Text 13"/>
          <p:cNvSpPr/>
          <p:nvPr/>
        </p:nvSpPr>
        <p:spPr>
          <a:xfrm>
            <a:off x="6263640" y="1600200"/>
            <a:ext cx="2697480" cy="685800"/>
          </a:xfrm>
          <a:prstGeom prst="rect">
            <a:avLst/>
          </a:prstGeom>
          <a:noFill/>
          <a:ln/>
        </p:spPr>
        <p:txBody>
          <a:bodyPr wrap="square" lIns="0" tIns="0" rIns="0" bIns="0" rtlCol="0" anchor="ctr"/>
          <a:lstStyle/>
          <a:p>
            <a:pPr algn="ctr" indent="0" marL="0">
              <a:buNone/>
            </a:pPr>
            <a:r>
              <a:rPr lang="en-US" sz="3600" b="1" dirty="0">
                <a:solidFill>
                  <a:srgbClr val="F7931A"/>
                </a:solidFill>
              </a:rPr>
              <a:t>$500M+</a:t>
            </a:r>
            <a:endParaRPr lang="en-US" sz="3600" dirty="0"/>
          </a:p>
        </p:txBody>
      </p:sp>
      <p:sp>
        <p:nvSpPr>
          <p:cNvPr id="16" name="Text 14"/>
          <p:cNvSpPr/>
          <p:nvPr/>
        </p:nvSpPr>
        <p:spPr>
          <a:xfrm>
            <a:off x="6263640" y="2304288"/>
            <a:ext cx="2697480" cy="685800"/>
          </a:xfrm>
          <a:prstGeom prst="rect">
            <a:avLst/>
          </a:prstGeom>
          <a:noFill/>
          <a:ln/>
        </p:spPr>
        <p:txBody>
          <a:bodyPr wrap="square" lIns="0" tIns="0" rIns="0" bIns="0" rtlCol="0" anchor="t"/>
          <a:lstStyle/>
          <a:p>
            <a:pPr algn="ctr" indent="0" marL="0">
              <a:buNone/>
            </a:pPr>
            <a:r>
              <a:rPr lang="en-US" sz="1200" dirty="0">
                <a:solidFill>
                  <a:srgbClr val="94A3B8"/>
                </a:solidFill>
              </a:rPr>
              <a:t>Yanlış strateji</a:t>
            </a:r>
            <a:endParaRPr lang="en-US" sz="1200" dirty="0"/>
          </a:p>
          <a:p>
            <a:pPr algn="ctr" indent="0" marL="0">
              <a:buNone/>
            </a:pPr>
            <a:r>
              <a:rPr lang="en-US" sz="1200" dirty="0">
                <a:solidFill>
                  <a:srgbClr val="94A3B8"/>
                </a:solidFill>
              </a:rPr>
              <a:t>nedeniyle kaybedilen sermaye</a:t>
            </a:r>
            <a:endParaRPr lang="en-US" sz="1200" dirty="0"/>
          </a:p>
        </p:txBody>
      </p:sp>
      <p:sp>
        <p:nvSpPr>
          <p:cNvPr id="17" name="Text 15"/>
          <p:cNvSpPr/>
          <p:nvPr/>
        </p:nvSpPr>
        <p:spPr>
          <a:xfrm>
            <a:off x="411480" y="3291840"/>
            <a:ext cx="8321040" cy="320040"/>
          </a:xfrm>
          <a:prstGeom prst="rect">
            <a:avLst/>
          </a:prstGeom>
          <a:noFill/>
          <a:ln/>
        </p:spPr>
        <p:txBody>
          <a:bodyPr wrap="square" lIns="0" tIns="0" rIns="0" bIns="0" rtlCol="0" anchor="ctr"/>
          <a:lstStyle/>
          <a:p>
            <a:pPr indent="0" marL="0">
              <a:buNone/>
            </a:pPr>
            <a:r>
              <a:rPr lang="en-US" sz="1300" b="1" dirty="0">
                <a:solidFill>
                  <a:srgbClr val="F1F5F9"/>
                </a:solidFill>
              </a:rPr>
              <a:t>Temel Zorluklar:</a:t>
            </a:r>
            <a:endParaRPr lang="en-US" sz="1300" dirty="0"/>
          </a:p>
        </p:txBody>
      </p:sp>
      <p:sp>
        <p:nvSpPr>
          <p:cNvPr id="18" name="Text 16"/>
          <p:cNvSpPr/>
          <p:nvPr/>
        </p:nvSpPr>
        <p:spPr>
          <a:xfrm>
            <a:off x="502920" y="3657600"/>
            <a:ext cx="8229600" cy="1280160"/>
          </a:xfrm>
          <a:prstGeom prst="rect">
            <a:avLst/>
          </a:prstGeom>
          <a:noFill/>
          <a:ln/>
        </p:spPr>
        <p:txBody>
          <a:bodyPr wrap="square" rtlCol="0" anchor="ctr"/>
          <a:lstStyle/>
          <a:p>
            <a:pPr marL="342900" indent="-342900">
              <a:buSzPct val="100000"/>
              <a:buChar char="•"/>
            </a:pPr>
            <a:r>
              <a:rPr lang="en-US" sz="1250" dirty="0">
                <a:solidFill>
                  <a:srgbClr val="F1F5F9"/>
                </a:solidFill>
              </a:rPr>
              <a:t>Gerçek piyasada strateji testi = gerçek para kaybı</a:t>
            </a:r>
            <a:endParaRPr lang="en-US" sz="1250" dirty="0"/>
          </a:p>
          <a:p>
            <a:pPr marL="342900" indent="-342900">
              <a:buSzPct val="100000"/>
              <a:buChar char="•"/>
            </a:pPr>
            <a:r>
              <a:rPr lang="en-US" sz="1250" dirty="0">
                <a:solidFill>
                  <a:srgbClr val="F1F5F9"/>
                </a:solidFill>
              </a:rPr>
              <a:t>Kaldıraçlı işlemlerde küçük hatalar büyük kayıplara yol açar</a:t>
            </a:r>
            <a:endParaRPr lang="en-US" sz="1250" dirty="0"/>
          </a:p>
          <a:p>
            <a:pPr marL="342900" indent="-342900">
              <a:buSzPct val="100000"/>
              <a:buChar char="•"/>
            </a:pPr>
            <a:r>
              <a:rPr lang="en-US" sz="1250" dirty="0">
                <a:solidFill>
                  <a:srgbClr val="F1F5F9"/>
                </a:solidFill>
              </a:rPr>
              <a:t>Algoritmik strateji geliştirmek programlama bilgisi gerektirir</a:t>
            </a:r>
            <a:endParaRPr lang="en-US" sz="1250" dirty="0"/>
          </a:p>
          <a:p>
            <a:pPr marL="342900" indent="-342900">
              <a:buSzPct val="100000"/>
              <a:buChar char="•"/>
            </a:pPr>
            <a:r>
              <a:rPr lang="en-US" sz="1250" dirty="0">
                <a:solidFill>
                  <a:srgbClr val="F1F5F9"/>
                </a:solidFill>
              </a:rPr>
              <a:t>Geçmiş veriye göre test (backtest) yapmak zaman alır ve uzmanlık ister</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11480" y="256032"/>
            <a:ext cx="1920240" cy="292608"/>
          </a:xfrm>
          <a:prstGeom prst="roundRect">
            <a:avLst>
              <a:gd name="adj" fmla="val 18750"/>
            </a:avLst>
          </a:prstGeom>
          <a:solidFill>
            <a:srgbClr val="F7931A"/>
          </a:solidFill>
          <a:ln w="12700">
            <a:solidFill>
              <a:srgbClr val="F7931A"/>
            </a:solidFill>
            <a:prstDash val="solid"/>
          </a:ln>
        </p:spPr>
      </p:sp>
      <p:sp>
        <p:nvSpPr>
          <p:cNvPr id="3" name="Text 1"/>
          <p:cNvSpPr/>
          <p:nvPr/>
        </p:nvSpPr>
        <p:spPr>
          <a:xfrm>
            <a:off x="411480" y="256032"/>
            <a:ext cx="1920240" cy="292608"/>
          </a:xfrm>
          <a:prstGeom prst="rect">
            <a:avLst/>
          </a:prstGeom>
          <a:noFill/>
          <a:ln/>
        </p:spPr>
        <p:txBody>
          <a:bodyPr wrap="square" lIns="0" tIns="0" rIns="0" bIns="0" rtlCol="0" anchor="ctr"/>
          <a:lstStyle/>
          <a:p>
            <a:pPr algn="ctr" indent="0" marL="0">
              <a:buNone/>
            </a:pPr>
            <a:r>
              <a:rPr lang="en-US" sz="850" b="1" dirty="0">
                <a:solidFill>
                  <a:srgbClr val="FFFFFF"/>
                </a:solidFill>
              </a:rPr>
              <a:t>PROBLEM TANIMI</a:t>
            </a:r>
            <a:endParaRPr lang="en-US" sz="850" dirty="0"/>
          </a:p>
        </p:txBody>
      </p:sp>
      <p:sp>
        <p:nvSpPr>
          <p:cNvPr id="4" name="Text 2"/>
          <p:cNvSpPr/>
          <p:nvPr/>
        </p:nvSpPr>
        <p:spPr>
          <a:xfrm>
            <a:off x="411480" y="658368"/>
            <a:ext cx="8321040" cy="594360"/>
          </a:xfrm>
          <a:prstGeom prst="rect">
            <a:avLst/>
          </a:prstGeom>
          <a:noFill/>
          <a:ln/>
        </p:spPr>
        <p:txBody>
          <a:bodyPr wrap="square" lIns="0" tIns="0" rIns="0" bIns="0" rtlCol="0" anchor="ctr"/>
          <a:lstStyle/>
          <a:p>
            <a:pPr algn="l" indent="0" marL="0">
              <a:buNone/>
            </a:pPr>
            <a:r>
              <a:rPr lang="en-US" sz="2600" b="1" dirty="0">
                <a:solidFill>
                  <a:srgbClr val="1E293B"/>
                </a:solidFill>
              </a:rPr>
              <a:t>Mevcut Çözümler Neden Yetersiz?</a:t>
            </a:r>
            <a:endParaRPr lang="en-US" sz="2600" dirty="0"/>
          </a:p>
        </p:txBody>
      </p:sp>
      <p:sp>
        <p:nvSpPr>
          <p:cNvPr id="5" name="Shape 3"/>
          <p:cNvSpPr/>
          <p:nvPr/>
        </p:nvSpPr>
        <p:spPr>
          <a:xfrm>
            <a:off x="411480" y="1417320"/>
            <a:ext cx="4206240" cy="150876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8000"/>
              </a:srgbClr>
            </a:outerShdw>
          </a:effectLst>
        </p:spPr>
      </p:sp>
      <p:sp>
        <p:nvSpPr>
          <p:cNvPr id="6" name="Shape 4"/>
          <p:cNvSpPr/>
          <p:nvPr/>
        </p:nvSpPr>
        <p:spPr>
          <a:xfrm>
            <a:off x="411480" y="1417320"/>
            <a:ext cx="64008" cy="1508760"/>
          </a:xfrm>
          <a:prstGeom prst="rect">
            <a:avLst/>
          </a:prstGeom>
          <a:solidFill>
            <a:srgbClr val="EF4444"/>
          </a:solidFill>
          <a:ln w="12700">
            <a:solidFill>
              <a:srgbClr val="EF4444"/>
            </a:solidFill>
            <a:prstDash val="solid"/>
          </a:ln>
        </p:spPr>
      </p:sp>
      <p:sp>
        <p:nvSpPr>
          <p:cNvPr id="7" name="Text 5"/>
          <p:cNvSpPr/>
          <p:nvPr/>
        </p:nvSpPr>
        <p:spPr>
          <a:xfrm>
            <a:off x="576072" y="1527048"/>
            <a:ext cx="3931920" cy="347472"/>
          </a:xfrm>
          <a:prstGeom prst="rect">
            <a:avLst/>
          </a:prstGeom>
          <a:noFill/>
          <a:ln/>
        </p:spPr>
        <p:txBody>
          <a:bodyPr wrap="square" lIns="0" tIns="0" rIns="0" bIns="0" rtlCol="0" anchor="ctr"/>
          <a:lstStyle/>
          <a:p>
            <a:pPr indent="0" marL="0">
              <a:buNone/>
            </a:pPr>
            <a:r>
              <a:rPr lang="en-US" sz="1250" b="1" dirty="0">
                <a:solidFill>
                  <a:srgbClr val="1E293B"/>
                </a:solidFill>
              </a:rPr>
              <a:t>📊  Geleneksel Backtesting Araçları</a:t>
            </a:r>
            <a:endParaRPr lang="en-US" sz="1250" dirty="0"/>
          </a:p>
        </p:txBody>
      </p:sp>
      <p:sp>
        <p:nvSpPr>
          <p:cNvPr id="8" name="Text 6"/>
          <p:cNvSpPr/>
          <p:nvPr/>
        </p:nvSpPr>
        <p:spPr>
          <a:xfrm>
            <a:off x="576072" y="1874520"/>
            <a:ext cx="3931920" cy="914400"/>
          </a:xfrm>
          <a:prstGeom prst="rect">
            <a:avLst/>
          </a:prstGeom>
          <a:noFill/>
          <a:ln/>
        </p:spPr>
        <p:txBody>
          <a:bodyPr wrap="square" lIns="0" tIns="0" rIns="0" bIns="0" rtlCol="0" anchor="ctr"/>
          <a:lstStyle/>
          <a:p>
            <a:pPr indent="0" marL="0">
              <a:buNone/>
            </a:pPr>
            <a:r>
              <a:rPr lang="en-US" sz="1100" dirty="0">
                <a:solidFill>
                  <a:srgbClr val="64748B"/>
                </a:solidFill>
              </a:rPr>
              <a:t>Sadece geçmiş verileri gösterir, canlı simülasyon yapmaz. Kullanıcıyı kendi başına bırakır.</a:t>
            </a:r>
            <a:endParaRPr lang="en-US" sz="1100" dirty="0"/>
          </a:p>
        </p:txBody>
      </p:sp>
      <p:sp>
        <p:nvSpPr>
          <p:cNvPr id="9" name="Shape 7"/>
          <p:cNvSpPr/>
          <p:nvPr/>
        </p:nvSpPr>
        <p:spPr>
          <a:xfrm>
            <a:off x="4846320" y="1417320"/>
            <a:ext cx="4206240" cy="150876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8000"/>
              </a:srgbClr>
            </a:outerShdw>
          </a:effectLst>
        </p:spPr>
      </p:sp>
      <p:sp>
        <p:nvSpPr>
          <p:cNvPr id="10" name="Shape 8"/>
          <p:cNvSpPr/>
          <p:nvPr/>
        </p:nvSpPr>
        <p:spPr>
          <a:xfrm>
            <a:off x="4846320" y="1417320"/>
            <a:ext cx="64008" cy="1508760"/>
          </a:xfrm>
          <a:prstGeom prst="rect">
            <a:avLst/>
          </a:prstGeom>
          <a:solidFill>
            <a:srgbClr val="EF4444"/>
          </a:solidFill>
          <a:ln w="12700">
            <a:solidFill>
              <a:srgbClr val="EF4444"/>
            </a:solidFill>
            <a:prstDash val="solid"/>
          </a:ln>
        </p:spPr>
      </p:sp>
      <p:sp>
        <p:nvSpPr>
          <p:cNvPr id="11" name="Text 9"/>
          <p:cNvSpPr/>
          <p:nvPr/>
        </p:nvSpPr>
        <p:spPr>
          <a:xfrm>
            <a:off x="5010912" y="1527048"/>
            <a:ext cx="3931920" cy="347472"/>
          </a:xfrm>
          <a:prstGeom prst="rect">
            <a:avLst/>
          </a:prstGeom>
          <a:noFill/>
          <a:ln/>
        </p:spPr>
        <p:txBody>
          <a:bodyPr wrap="square" lIns="0" tIns="0" rIns="0" bIns="0" rtlCol="0" anchor="ctr"/>
          <a:lstStyle/>
          <a:p>
            <a:pPr indent="0" marL="0">
              <a:buNone/>
            </a:pPr>
            <a:r>
              <a:rPr lang="en-US" sz="1250" b="1" dirty="0">
                <a:solidFill>
                  <a:srgbClr val="1E293B"/>
                </a:solidFill>
              </a:rPr>
              <a:t>💸  Demo Hesaplar</a:t>
            </a:r>
            <a:endParaRPr lang="en-US" sz="1250" dirty="0"/>
          </a:p>
        </p:txBody>
      </p:sp>
      <p:sp>
        <p:nvSpPr>
          <p:cNvPr id="12" name="Text 10"/>
          <p:cNvSpPr/>
          <p:nvPr/>
        </p:nvSpPr>
        <p:spPr>
          <a:xfrm>
            <a:off x="5010912" y="1874520"/>
            <a:ext cx="3931920" cy="914400"/>
          </a:xfrm>
          <a:prstGeom prst="rect">
            <a:avLst/>
          </a:prstGeom>
          <a:noFill/>
          <a:ln/>
        </p:spPr>
        <p:txBody>
          <a:bodyPr wrap="square" lIns="0" tIns="0" rIns="0" bIns="0" rtlCol="0" anchor="ctr"/>
          <a:lstStyle/>
          <a:p>
            <a:pPr indent="0" marL="0">
              <a:buNone/>
            </a:pPr>
            <a:r>
              <a:rPr lang="en-US" sz="1100" dirty="0">
                <a:solidFill>
                  <a:srgbClr val="64748B"/>
                </a:solidFill>
              </a:rPr>
              <a:t>Gerçek piyasa koşullarını yansıtmaz. Kaldıraç ve likidisyon mekanizmaları eksik ya da sahte.</a:t>
            </a:r>
            <a:endParaRPr lang="en-US" sz="1100" dirty="0"/>
          </a:p>
        </p:txBody>
      </p:sp>
      <p:sp>
        <p:nvSpPr>
          <p:cNvPr id="13" name="Shape 11"/>
          <p:cNvSpPr/>
          <p:nvPr/>
        </p:nvSpPr>
        <p:spPr>
          <a:xfrm>
            <a:off x="411480" y="3108960"/>
            <a:ext cx="4206240" cy="150876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8000"/>
              </a:srgbClr>
            </a:outerShdw>
          </a:effectLst>
        </p:spPr>
      </p:sp>
      <p:sp>
        <p:nvSpPr>
          <p:cNvPr id="14" name="Shape 12"/>
          <p:cNvSpPr/>
          <p:nvPr/>
        </p:nvSpPr>
        <p:spPr>
          <a:xfrm>
            <a:off x="411480" y="3108960"/>
            <a:ext cx="64008" cy="1508760"/>
          </a:xfrm>
          <a:prstGeom prst="rect">
            <a:avLst/>
          </a:prstGeom>
          <a:solidFill>
            <a:srgbClr val="EF4444"/>
          </a:solidFill>
          <a:ln w="12700">
            <a:solidFill>
              <a:srgbClr val="EF4444"/>
            </a:solidFill>
            <a:prstDash val="solid"/>
          </a:ln>
        </p:spPr>
      </p:sp>
      <p:sp>
        <p:nvSpPr>
          <p:cNvPr id="15" name="Text 13"/>
          <p:cNvSpPr/>
          <p:nvPr/>
        </p:nvSpPr>
        <p:spPr>
          <a:xfrm>
            <a:off x="576072" y="3218688"/>
            <a:ext cx="3931920" cy="347472"/>
          </a:xfrm>
          <a:prstGeom prst="rect">
            <a:avLst/>
          </a:prstGeom>
          <a:noFill/>
          <a:ln/>
        </p:spPr>
        <p:txBody>
          <a:bodyPr wrap="square" lIns="0" tIns="0" rIns="0" bIns="0" rtlCol="0" anchor="ctr"/>
          <a:lstStyle/>
          <a:p>
            <a:pPr indent="0" marL="0">
              <a:buNone/>
            </a:pPr>
            <a:r>
              <a:rPr lang="en-US" sz="1250" b="1" dirty="0">
                <a:solidFill>
                  <a:srgbClr val="1E293B"/>
                </a:solidFill>
              </a:rPr>
              <a:t>🤖  Algoritmik Trading Platformları</a:t>
            </a:r>
            <a:endParaRPr lang="en-US" sz="1250" dirty="0"/>
          </a:p>
        </p:txBody>
      </p:sp>
      <p:sp>
        <p:nvSpPr>
          <p:cNvPr id="16" name="Text 14"/>
          <p:cNvSpPr/>
          <p:nvPr/>
        </p:nvSpPr>
        <p:spPr>
          <a:xfrm>
            <a:off x="576072" y="3566160"/>
            <a:ext cx="3931920" cy="914400"/>
          </a:xfrm>
          <a:prstGeom prst="rect">
            <a:avLst/>
          </a:prstGeom>
          <a:noFill/>
          <a:ln/>
        </p:spPr>
        <p:txBody>
          <a:bodyPr wrap="square" lIns="0" tIns="0" rIns="0" bIns="0" rtlCol="0" anchor="ctr"/>
          <a:lstStyle/>
          <a:p>
            <a:pPr indent="0" marL="0">
              <a:buNone/>
            </a:pPr>
            <a:r>
              <a:rPr lang="en-US" sz="1100" dirty="0">
                <a:solidFill>
                  <a:srgbClr val="64748B"/>
                </a:solidFill>
              </a:rPr>
              <a:t>Yüksek teknik engel: kod yazabilmek zorunlu. Başlangıç seviyesi için erişilemez.</a:t>
            </a:r>
            <a:endParaRPr lang="en-US" sz="1100" dirty="0"/>
          </a:p>
        </p:txBody>
      </p:sp>
      <p:sp>
        <p:nvSpPr>
          <p:cNvPr id="17" name="Shape 15"/>
          <p:cNvSpPr/>
          <p:nvPr/>
        </p:nvSpPr>
        <p:spPr>
          <a:xfrm>
            <a:off x="4846320" y="3108960"/>
            <a:ext cx="4206240" cy="150876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8000"/>
              </a:srgbClr>
            </a:outerShdw>
          </a:effectLst>
        </p:spPr>
      </p:sp>
      <p:sp>
        <p:nvSpPr>
          <p:cNvPr id="18" name="Shape 16"/>
          <p:cNvSpPr/>
          <p:nvPr/>
        </p:nvSpPr>
        <p:spPr>
          <a:xfrm>
            <a:off x="4846320" y="3108960"/>
            <a:ext cx="64008" cy="1508760"/>
          </a:xfrm>
          <a:prstGeom prst="rect">
            <a:avLst/>
          </a:prstGeom>
          <a:solidFill>
            <a:srgbClr val="EF4444"/>
          </a:solidFill>
          <a:ln w="12700">
            <a:solidFill>
              <a:srgbClr val="EF4444"/>
            </a:solidFill>
            <a:prstDash val="solid"/>
          </a:ln>
        </p:spPr>
      </p:sp>
      <p:sp>
        <p:nvSpPr>
          <p:cNvPr id="19" name="Text 17"/>
          <p:cNvSpPr/>
          <p:nvPr/>
        </p:nvSpPr>
        <p:spPr>
          <a:xfrm>
            <a:off x="5010912" y="3218688"/>
            <a:ext cx="3931920" cy="347472"/>
          </a:xfrm>
          <a:prstGeom prst="rect">
            <a:avLst/>
          </a:prstGeom>
          <a:noFill/>
          <a:ln/>
        </p:spPr>
        <p:txBody>
          <a:bodyPr wrap="square" lIns="0" tIns="0" rIns="0" bIns="0" rtlCol="0" anchor="ctr"/>
          <a:lstStyle/>
          <a:p>
            <a:pPr indent="0" marL="0">
              <a:buNone/>
            </a:pPr>
            <a:r>
              <a:rPr lang="en-US" sz="1250" b="1" dirty="0">
                <a:solidFill>
                  <a:srgbClr val="1E293B"/>
                </a:solidFill>
              </a:rPr>
              <a:t>📱  Borsa Uygulamaları</a:t>
            </a:r>
            <a:endParaRPr lang="en-US" sz="1250" dirty="0"/>
          </a:p>
        </p:txBody>
      </p:sp>
      <p:sp>
        <p:nvSpPr>
          <p:cNvPr id="20" name="Text 18"/>
          <p:cNvSpPr/>
          <p:nvPr/>
        </p:nvSpPr>
        <p:spPr>
          <a:xfrm>
            <a:off x="5010912" y="3566160"/>
            <a:ext cx="3931920" cy="914400"/>
          </a:xfrm>
          <a:prstGeom prst="rect">
            <a:avLst/>
          </a:prstGeom>
          <a:noFill/>
          <a:ln/>
        </p:spPr>
        <p:txBody>
          <a:bodyPr wrap="square" lIns="0" tIns="0" rIns="0" bIns="0" rtlCol="0" anchor="ctr"/>
          <a:lstStyle/>
          <a:p>
            <a:pPr indent="0" marL="0">
              <a:buNone/>
            </a:pPr>
            <a:r>
              <a:rPr lang="en-US" sz="1100" dirty="0">
                <a:solidFill>
                  <a:srgbClr val="64748B"/>
                </a:solidFill>
              </a:rPr>
              <a:t>Eğitim amaçlı değil. Kullanıcıyı gerçek risk almaya yönlendirir.</a:t>
            </a:r>
            <a:endParaRPr lang="en-US" sz="1100" dirty="0"/>
          </a:p>
        </p:txBody>
      </p:sp>
      <p:sp>
        <p:nvSpPr>
          <p:cNvPr id="21" name="Shape 19"/>
          <p:cNvSpPr/>
          <p:nvPr/>
        </p:nvSpPr>
        <p:spPr>
          <a:xfrm>
            <a:off x="411480" y="4617720"/>
            <a:ext cx="8321040" cy="347472"/>
          </a:xfrm>
          <a:prstGeom prst="rect">
            <a:avLst/>
          </a:prstGeom>
          <a:solidFill>
            <a:srgbClr val="FFF7ED"/>
          </a:solidFill>
          <a:ln w="12700">
            <a:solidFill>
              <a:srgbClr val="FED7AA"/>
            </a:solidFill>
            <a:prstDash val="solid"/>
          </a:ln>
        </p:spPr>
      </p:sp>
      <p:sp>
        <p:nvSpPr>
          <p:cNvPr id="22" name="Text 20"/>
          <p:cNvSpPr/>
          <p:nvPr/>
        </p:nvSpPr>
        <p:spPr>
          <a:xfrm>
            <a:off x="502920" y="4617720"/>
            <a:ext cx="8229600" cy="347472"/>
          </a:xfrm>
          <a:prstGeom prst="rect">
            <a:avLst/>
          </a:prstGeom>
          <a:noFill/>
          <a:ln/>
        </p:spPr>
        <p:txBody>
          <a:bodyPr wrap="square" lIns="0" tIns="0" rIns="0" bIns="0" rtlCol="0" anchor="ctr"/>
          <a:lstStyle/>
          <a:p>
            <a:pPr algn="ctr" indent="0" marL="0">
              <a:buNone/>
            </a:pPr>
            <a:r>
              <a:rPr lang="en-US" sz="1200" b="1" dirty="0">
                <a:solidFill>
                  <a:srgbClr val="92400E"/>
                </a:solidFill>
              </a:rPr>
              <a:t>⚡  Eksik olan şey: Gerçekçi + Erişilebilir + Yapay Zeka Destekli bir platform</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11480" y="274320"/>
            <a:ext cx="1737360" cy="292608"/>
          </a:xfrm>
          <a:prstGeom prst="roundRect">
            <a:avLst>
              <a:gd name="adj" fmla="val 18750"/>
            </a:avLst>
          </a:prstGeom>
          <a:solidFill>
            <a:srgbClr val="F7931A"/>
          </a:solidFill>
          <a:ln w="12700">
            <a:solidFill>
              <a:srgbClr val="F7931A"/>
            </a:solidFill>
            <a:prstDash val="solid"/>
          </a:ln>
        </p:spPr>
      </p:sp>
      <p:sp>
        <p:nvSpPr>
          <p:cNvPr id="3" name="Text 1"/>
          <p:cNvSpPr/>
          <p:nvPr/>
        </p:nvSpPr>
        <p:spPr>
          <a:xfrm>
            <a:off x="411480" y="274320"/>
            <a:ext cx="1737360" cy="292608"/>
          </a:xfrm>
          <a:prstGeom prst="rect">
            <a:avLst/>
          </a:prstGeom>
          <a:noFill/>
          <a:ln/>
        </p:spPr>
        <p:txBody>
          <a:bodyPr wrap="square" lIns="0" tIns="0" rIns="0" bIns="0" rtlCol="0" anchor="ctr"/>
          <a:lstStyle/>
          <a:p>
            <a:pPr algn="ctr" indent="0" marL="0">
              <a:buNone/>
            </a:pPr>
            <a:r>
              <a:rPr lang="en-US" sz="850" b="1" dirty="0">
                <a:solidFill>
                  <a:srgbClr val="FFFFFF"/>
                </a:solidFill>
              </a:rPr>
              <a:t>ÇÖZÜM</a:t>
            </a:r>
            <a:endParaRPr lang="en-US" sz="850" dirty="0"/>
          </a:p>
        </p:txBody>
      </p:sp>
      <p:sp>
        <p:nvSpPr>
          <p:cNvPr id="4" name="Text 2"/>
          <p:cNvSpPr/>
          <p:nvPr/>
        </p:nvSpPr>
        <p:spPr>
          <a:xfrm>
            <a:off x="411480" y="685800"/>
            <a:ext cx="8321040" cy="594360"/>
          </a:xfrm>
          <a:prstGeom prst="rect">
            <a:avLst/>
          </a:prstGeom>
          <a:noFill/>
          <a:ln/>
        </p:spPr>
        <p:txBody>
          <a:bodyPr wrap="square" lIns="0" tIns="0" rIns="0" bIns="0" rtlCol="0" anchor="ctr"/>
          <a:lstStyle/>
          <a:p>
            <a:pPr algn="l" indent="0" marL="0">
              <a:buNone/>
            </a:pPr>
            <a:r>
              <a:rPr lang="en-US" sz="2800" b="1" dirty="0">
                <a:solidFill>
                  <a:srgbClr val="F1F5F9"/>
                </a:solidFill>
              </a:rPr>
              <a:t>BTC Futures Simulator Nedir?</a:t>
            </a:r>
            <a:endParaRPr lang="en-US" sz="2800" dirty="0"/>
          </a:p>
        </p:txBody>
      </p:sp>
      <p:sp>
        <p:nvSpPr>
          <p:cNvPr id="5" name="Shape 3"/>
          <p:cNvSpPr/>
          <p:nvPr/>
        </p:nvSpPr>
        <p:spPr>
          <a:xfrm>
            <a:off x="411480" y="1417320"/>
            <a:ext cx="8321040" cy="1371600"/>
          </a:xfrm>
          <a:prstGeom prst="rect">
            <a:avLst/>
          </a:prstGeom>
          <a:solidFill>
            <a:srgbClr val="1A2F4A"/>
          </a:solidFill>
          <a:ln w="12700">
            <a:solidFill>
              <a:srgbClr val="1E3A5F"/>
            </a:solidFill>
            <a:prstDash val="solid"/>
          </a:ln>
        </p:spPr>
      </p:sp>
      <p:sp>
        <p:nvSpPr>
          <p:cNvPr id="6" name="Shape 4"/>
          <p:cNvSpPr/>
          <p:nvPr/>
        </p:nvSpPr>
        <p:spPr>
          <a:xfrm>
            <a:off x="411480" y="1417320"/>
            <a:ext cx="73152" cy="1371600"/>
          </a:xfrm>
          <a:prstGeom prst="rect">
            <a:avLst/>
          </a:prstGeom>
          <a:solidFill>
            <a:srgbClr val="F7931A"/>
          </a:solidFill>
          <a:ln w="12700">
            <a:solidFill>
              <a:srgbClr val="F7931A"/>
            </a:solidFill>
            <a:prstDash val="solid"/>
          </a:ln>
        </p:spPr>
      </p:sp>
      <p:sp>
        <p:nvSpPr>
          <p:cNvPr id="7" name="Text 5"/>
          <p:cNvSpPr/>
          <p:nvPr/>
        </p:nvSpPr>
        <p:spPr>
          <a:xfrm>
            <a:off x="594360" y="1463040"/>
            <a:ext cx="7955280" cy="1280160"/>
          </a:xfrm>
          <a:prstGeom prst="rect">
            <a:avLst/>
          </a:prstGeom>
          <a:noFill/>
          <a:ln/>
        </p:spPr>
        <p:txBody>
          <a:bodyPr wrap="square" lIns="0" tIns="0" rIns="0" bIns="0" rtlCol="0" anchor="ctr"/>
          <a:lstStyle/>
          <a:p>
            <a:pPr algn="l" indent="0" marL="0">
              <a:buNone/>
            </a:pPr>
            <a:r>
              <a:rPr lang="en-US" sz="1600" i="1" dirty="0">
                <a:solidFill>
                  <a:srgbClr val="F1F5F9"/>
                </a:solidFill>
              </a:rPr>
              <a:t>"Gercek parayi riske atmadan, Bitcoin vadeli islem stratejilerini canli piyasa kosullarinda test edip gelistirebileceginiz, yapay zeka destekli bir simulasyon platformu."</a:t>
            </a:r>
            <a:endParaRPr lang="en-US" sz="1600" dirty="0"/>
          </a:p>
        </p:txBody>
      </p:sp>
      <p:sp>
        <p:nvSpPr>
          <p:cNvPr id="8" name="Shape 6"/>
          <p:cNvSpPr/>
          <p:nvPr/>
        </p:nvSpPr>
        <p:spPr>
          <a:xfrm>
            <a:off x="411480" y="3017520"/>
            <a:ext cx="2743200" cy="1920240"/>
          </a:xfrm>
          <a:prstGeom prst="rect">
            <a:avLst/>
          </a:prstGeom>
          <a:solidFill>
            <a:srgbClr val="1A2F4A"/>
          </a:solidFill>
          <a:ln w="12700">
            <a:solidFill>
              <a:srgbClr val="1E3A5F"/>
            </a:solidFill>
            <a:prstDash val="solid"/>
          </a:ln>
        </p:spPr>
      </p:sp>
      <p:sp>
        <p:nvSpPr>
          <p:cNvPr id="9" name="Shape 7"/>
          <p:cNvSpPr/>
          <p:nvPr/>
        </p:nvSpPr>
        <p:spPr>
          <a:xfrm>
            <a:off x="1417320" y="2926080"/>
            <a:ext cx="731520" cy="731520"/>
          </a:xfrm>
          <a:prstGeom prst="ellipse">
            <a:avLst/>
          </a:prstGeom>
          <a:solidFill>
            <a:srgbClr val="F7931A"/>
          </a:solidFill>
          <a:ln w="12700">
            <a:solidFill>
              <a:srgbClr val="F7931A"/>
            </a:solidFill>
            <a:prstDash val="solid"/>
          </a:ln>
        </p:spPr>
      </p:sp>
      <p:sp>
        <p:nvSpPr>
          <p:cNvPr id="10" name="Text 8"/>
          <p:cNvSpPr/>
          <p:nvPr/>
        </p:nvSpPr>
        <p:spPr>
          <a:xfrm>
            <a:off x="1417320" y="2926080"/>
            <a:ext cx="731520" cy="73152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1" name="Text 9"/>
          <p:cNvSpPr/>
          <p:nvPr/>
        </p:nvSpPr>
        <p:spPr>
          <a:xfrm>
            <a:off x="411480" y="3749040"/>
            <a:ext cx="2743200" cy="411480"/>
          </a:xfrm>
          <a:prstGeom prst="rect">
            <a:avLst/>
          </a:prstGeom>
          <a:noFill/>
          <a:ln/>
        </p:spPr>
        <p:txBody>
          <a:bodyPr wrap="square" lIns="0" tIns="0" rIns="0" bIns="0" rtlCol="0" anchor="ctr"/>
          <a:lstStyle/>
          <a:p>
            <a:pPr algn="ctr" indent="0" marL="0">
              <a:buNone/>
            </a:pPr>
            <a:r>
              <a:rPr lang="en-US" sz="1250" b="1" dirty="0">
                <a:solidFill>
                  <a:srgbClr val="F1F5F9"/>
                </a:solidFill>
              </a:rPr>
              <a:t>Güvenli Test Ortamı</a:t>
            </a:r>
            <a:endParaRPr lang="en-US" sz="1250" dirty="0"/>
          </a:p>
        </p:txBody>
      </p:sp>
      <p:sp>
        <p:nvSpPr>
          <p:cNvPr id="12" name="Text 10"/>
          <p:cNvSpPr/>
          <p:nvPr/>
        </p:nvSpPr>
        <p:spPr>
          <a:xfrm>
            <a:off x="502920" y="4160520"/>
            <a:ext cx="2560320" cy="731520"/>
          </a:xfrm>
          <a:prstGeom prst="rect">
            <a:avLst/>
          </a:prstGeom>
          <a:noFill/>
          <a:ln/>
        </p:spPr>
        <p:txBody>
          <a:bodyPr wrap="square" lIns="0" tIns="0" rIns="0" bIns="0" rtlCol="0" anchor="t"/>
          <a:lstStyle/>
          <a:p>
            <a:pPr algn="ctr" indent="0" marL="0">
              <a:buNone/>
            </a:pPr>
            <a:r>
              <a:rPr lang="en-US" sz="1050" dirty="0">
                <a:solidFill>
                  <a:srgbClr val="94A3B8"/>
                </a:solidFill>
              </a:rPr>
              <a:t>Gerçek piyasa dinamikleriyle aynı şartlarda, sıfır finansal risk ile strateji deneyin</a:t>
            </a:r>
            <a:endParaRPr lang="en-US" sz="1050" dirty="0"/>
          </a:p>
        </p:txBody>
      </p:sp>
      <p:sp>
        <p:nvSpPr>
          <p:cNvPr id="13" name="Shape 11"/>
          <p:cNvSpPr/>
          <p:nvPr/>
        </p:nvSpPr>
        <p:spPr>
          <a:xfrm>
            <a:off x="3355848" y="3017520"/>
            <a:ext cx="2743200" cy="1920240"/>
          </a:xfrm>
          <a:prstGeom prst="rect">
            <a:avLst/>
          </a:prstGeom>
          <a:solidFill>
            <a:srgbClr val="1A2F4A"/>
          </a:solidFill>
          <a:ln w="12700">
            <a:solidFill>
              <a:srgbClr val="1E3A5F"/>
            </a:solidFill>
            <a:prstDash val="solid"/>
          </a:ln>
        </p:spPr>
      </p:sp>
      <p:sp>
        <p:nvSpPr>
          <p:cNvPr id="14" name="Shape 12"/>
          <p:cNvSpPr/>
          <p:nvPr/>
        </p:nvSpPr>
        <p:spPr>
          <a:xfrm>
            <a:off x="4361688" y="2926080"/>
            <a:ext cx="731520" cy="731520"/>
          </a:xfrm>
          <a:prstGeom prst="ellipse">
            <a:avLst/>
          </a:prstGeom>
          <a:solidFill>
            <a:srgbClr val="F7931A"/>
          </a:solidFill>
          <a:ln w="12700">
            <a:solidFill>
              <a:srgbClr val="F7931A"/>
            </a:solidFill>
            <a:prstDash val="solid"/>
          </a:ln>
        </p:spPr>
      </p:sp>
      <p:sp>
        <p:nvSpPr>
          <p:cNvPr id="15" name="Text 13"/>
          <p:cNvSpPr/>
          <p:nvPr/>
        </p:nvSpPr>
        <p:spPr>
          <a:xfrm>
            <a:off x="4361688" y="2926080"/>
            <a:ext cx="731520" cy="73152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6" name="Text 14"/>
          <p:cNvSpPr/>
          <p:nvPr/>
        </p:nvSpPr>
        <p:spPr>
          <a:xfrm>
            <a:off x="3355848" y="3749040"/>
            <a:ext cx="2743200" cy="411480"/>
          </a:xfrm>
          <a:prstGeom prst="rect">
            <a:avLst/>
          </a:prstGeom>
          <a:noFill/>
          <a:ln/>
        </p:spPr>
        <p:txBody>
          <a:bodyPr wrap="square" lIns="0" tIns="0" rIns="0" bIns="0" rtlCol="0" anchor="ctr"/>
          <a:lstStyle/>
          <a:p>
            <a:pPr algn="ctr" indent="0" marL="0">
              <a:buNone/>
            </a:pPr>
            <a:r>
              <a:rPr lang="en-US" sz="1250" b="1" dirty="0">
                <a:solidFill>
                  <a:srgbClr val="F1F5F9"/>
                </a:solidFill>
              </a:rPr>
              <a:t>AI Bot Üretici</a:t>
            </a:r>
            <a:endParaRPr lang="en-US" sz="1250" dirty="0"/>
          </a:p>
        </p:txBody>
      </p:sp>
      <p:sp>
        <p:nvSpPr>
          <p:cNvPr id="17" name="Text 15"/>
          <p:cNvSpPr/>
          <p:nvPr/>
        </p:nvSpPr>
        <p:spPr>
          <a:xfrm>
            <a:off x="3447288" y="4160520"/>
            <a:ext cx="2560320" cy="731520"/>
          </a:xfrm>
          <a:prstGeom prst="rect">
            <a:avLst/>
          </a:prstGeom>
          <a:noFill/>
          <a:ln/>
        </p:spPr>
        <p:txBody>
          <a:bodyPr wrap="square" lIns="0" tIns="0" rIns="0" bIns="0" rtlCol="0" anchor="t"/>
          <a:lstStyle/>
          <a:p>
            <a:pPr algn="ctr" indent="0" marL="0">
              <a:buNone/>
            </a:pPr>
            <a:r>
              <a:rPr lang="en-US" sz="1050" dirty="0">
                <a:solidFill>
                  <a:srgbClr val="94A3B8"/>
                </a:solidFill>
              </a:rPr>
              <a:t>Stratejinizi Türkçe/İngilizce yazın, yapay zeka sizin için hazır bir trading botu oluşturur</a:t>
            </a:r>
            <a:endParaRPr lang="en-US" sz="1050" dirty="0"/>
          </a:p>
        </p:txBody>
      </p:sp>
      <p:sp>
        <p:nvSpPr>
          <p:cNvPr id="18" name="Shape 16"/>
          <p:cNvSpPr/>
          <p:nvPr/>
        </p:nvSpPr>
        <p:spPr>
          <a:xfrm>
            <a:off x="6300216" y="3017520"/>
            <a:ext cx="2743200" cy="1920240"/>
          </a:xfrm>
          <a:prstGeom prst="rect">
            <a:avLst/>
          </a:prstGeom>
          <a:solidFill>
            <a:srgbClr val="1A2F4A"/>
          </a:solidFill>
          <a:ln w="12700">
            <a:solidFill>
              <a:srgbClr val="1E3A5F"/>
            </a:solidFill>
            <a:prstDash val="solid"/>
          </a:ln>
        </p:spPr>
      </p:sp>
      <p:sp>
        <p:nvSpPr>
          <p:cNvPr id="19" name="Shape 17"/>
          <p:cNvSpPr/>
          <p:nvPr/>
        </p:nvSpPr>
        <p:spPr>
          <a:xfrm>
            <a:off x="7306056" y="2926080"/>
            <a:ext cx="731520" cy="731520"/>
          </a:xfrm>
          <a:prstGeom prst="ellipse">
            <a:avLst/>
          </a:prstGeom>
          <a:solidFill>
            <a:srgbClr val="F7931A"/>
          </a:solidFill>
          <a:ln w="12700">
            <a:solidFill>
              <a:srgbClr val="F7931A"/>
            </a:solidFill>
            <a:prstDash val="solid"/>
          </a:ln>
        </p:spPr>
      </p:sp>
      <p:sp>
        <p:nvSpPr>
          <p:cNvPr id="20" name="Text 18"/>
          <p:cNvSpPr/>
          <p:nvPr/>
        </p:nvSpPr>
        <p:spPr>
          <a:xfrm>
            <a:off x="7306056" y="2926080"/>
            <a:ext cx="731520" cy="73152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1" name="Text 19"/>
          <p:cNvSpPr/>
          <p:nvPr/>
        </p:nvSpPr>
        <p:spPr>
          <a:xfrm>
            <a:off x="6300216" y="3749040"/>
            <a:ext cx="2743200" cy="411480"/>
          </a:xfrm>
          <a:prstGeom prst="rect">
            <a:avLst/>
          </a:prstGeom>
          <a:noFill/>
          <a:ln/>
        </p:spPr>
        <p:txBody>
          <a:bodyPr wrap="square" lIns="0" tIns="0" rIns="0" bIns="0" rtlCol="0" anchor="ctr"/>
          <a:lstStyle/>
          <a:p>
            <a:pPr algn="ctr" indent="0" marL="0">
              <a:buNone/>
            </a:pPr>
            <a:r>
              <a:rPr lang="en-US" sz="1250" b="1" dirty="0">
                <a:solidFill>
                  <a:srgbClr val="F1F5F9"/>
                </a:solidFill>
              </a:rPr>
              <a:t>Detaylı Analiz</a:t>
            </a:r>
            <a:endParaRPr lang="en-US" sz="1250" dirty="0"/>
          </a:p>
        </p:txBody>
      </p:sp>
      <p:sp>
        <p:nvSpPr>
          <p:cNvPr id="22" name="Text 20"/>
          <p:cNvSpPr/>
          <p:nvPr/>
        </p:nvSpPr>
        <p:spPr>
          <a:xfrm>
            <a:off x="6391656" y="4160520"/>
            <a:ext cx="2560320" cy="731520"/>
          </a:xfrm>
          <a:prstGeom prst="rect">
            <a:avLst/>
          </a:prstGeom>
          <a:noFill/>
          <a:ln/>
        </p:spPr>
        <p:txBody>
          <a:bodyPr wrap="square" lIns="0" tIns="0" rIns="0" bIns="0" rtlCol="0" anchor="t"/>
          <a:lstStyle/>
          <a:p>
            <a:pPr algn="ctr" indent="0" marL="0">
              <a:buNone/>
            </a:pPr>
            <a:r>
              <a:rPr lang="en-US" sz="1050" dirty="0">
                <a:solidFill>
                  <a:srgbClr val="94A3B8"/>
                </a:solidFill>
              </a:rPr>
              <a:t>Kazanma oranı, Sharpe ratio, maksimum düşüş ve daha fazlası ile stratejinizi ölçün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11480" y="256032"/>
            <a:ext cx="1920240" cy="292608"/>
          </a:xfrm>
          <a:prstGeom prst="roundRect">
            <a:avLst>
              <a:gd name="adj" fmla="val 18750"/>
            </a:avLst>
          </a:prstGeom>
          <a:solidFill>
            <a:srgbClr val="F7931A"/>
          </a:solidFill>
          <a:ln w="12700">
            <a:solidFill>
              <a:srgbClr val="F7931A"/>
            </a:solidFill>
            <a:prstDash val="solid"/>
          </a:ln>
        </p:spPr>
      </p:sp>
      <p:sp>
        <p:nvSpPr>
          <p:cNvPr id="3" name="Text 1"/>
          <p:cNvSpPr/>
          <p:nvPr/>
        </p:nvSpPr>
        <p:spPr>
          <a:xfrm>
            <a:off x="411480" y="256032"/>
            <a:ext cx="1920240" cy="292608"/>
          </a:xfrm>
          <a:prstGeom prst="rect">
            <a:avLst/>
          </a:prstGeom>
          <a:noFill/>
          <a:ln/>
        </p:spPr>
        <p:txBody>
          <a:bodyPr wrap="square" lIns="0" tIns="0" rIns="0" bIns="0" rtlCol="0" anchor="ctr"/>
          <a:lstStyle/>
          <a:p>
            <a:pPr algn="ctr" indent="0" marL="0">
              <a:buNone/>
            </a:pPr>
            <a:r>
              <a:rPr lang="en-US" sz="850" b="1" dirty="0">
                <a:solidFill>
                  <a:srgbClr val="FFFFFF"/>
                </a:solidFill>
              </a:rPr>
              <a:t>NASIL ÇALIŞIR?</a:t>
            </a:r>
            <a:endParaRPr lang="en-US" sz="850" dirty="0"/>
          </a:p>
        </p:txBody>
      </p:sp>
      <p:sp>
        <p:nvSpPr>
          <p:cNvPr id="4" name="Text 2"/>
          <p:cNvSpPr/>
          <p:nvPr/>
        </p:nvSpPr>
        <p:spPr>
          <a:xfrm>
            <a:off x="411480" y="658368"/>
            <a:ext cx="8321040" cy="594360"/>
          </a:xfrm>
          <a:prstGeom prst="rect">
            <a:avLst/>
          </a:prstGeom>
          <a:noFill/>
          <a:ln/>
        </p:spPr>
        <p:txBody>
          <a:bodyPr wrap="square" lIns="0" tIns="0" rIns="0" bIns="0" rtlCol="0" anchor="ctr"/>
          <a:lstStyle/>
          <a:p>
            <a:pPr algn="l" indent="0" marL="0">
              <a:buNone/>
            </a:pPr>
            <a:r>
              <a:rPr lang="en-US" sz="2600" b="1" dirty="0">
                <a:solidFill>
                  <a:srgbClr val="1E293B"/>
                </a:solidFill>
              </a:rPr>
              <a:t>Platform İş Akışı</a:t>
            </a:r>
            <a:endParaRPr lang="en-US" sz="2600" dirty="0"/>
          </a:p>
        </p:txBody>
      </p:sp>
      <p:sp>
        <p:nvSpPr>
          <p:cNvPr id="5" name="Shape 3"/>
          <p:cNvSpPr/>
          <p:nvPr/>
        </p:nvSpPr>
        <p:spPr>
          <a:xfrm>
            <a:off x="411480" y="1417320"/>
            <a:ext cx="1965960" cy="256032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8000"/>
              </a:srgbClr>
            </a:outerShdw>
          </a:effectLst>
        </p:spPr>
      </p:sp>
      <p:sp>
        <p:nvSpPr>
          <p:cNvPr id="6" name="Shape 4"/>
          <p:cNvSpPr/>
          <p:nvPr/>
        </p:nvSpPr>
        <p:spPr>
          <a:xfrm>
            <a:off x="978408" y="1536192"/>
            <a:ext cx="822960" cy="822960"/>
          </a:xfrm>
          <a:prstGeom prst="ellipse">
            <a:avLst/>
          </a:prstGeom>
          <a:solidFill>
            <a:srgbClr val="F7931A"/>
          </a:solidFill>
          <a:ln w="12700">
            <a:solidFill>
              <a:srgbClr val="F7931A"/>
            </a:solidFill>
            <a:prstDash val="solid"/>
          </a:ln>
        </p:spPr>
      </p:sp>
      <p:sp>
        <p:nvSpPr>
          <p:cNvPr id="7" name="Text 5"/>
          <p:cNvSpPr/>
          <p:nvPr/>
        </p:nvSpPr>
        <p:spPr>
          <a:xfrm>
            <a:off x="978408" y="1536192"/>
            <a:ext cx="822960" cy="822960"/>
          </a:xfrm>
          <a:prstGeom prst="rect">
            <a:avLst/>
          </a:prstGeom>
          <a:noFill/>
          <a:ln/>
        </p:spPr>
        <p:txBody>
          <a:bodyPr wrap="square" lIns="0" tIns="0" rIns="0" bIns="0" rtlCol="0" anchor="ctr"/>
          <a:lstStyle/>
          <a:p>
            <a:pPr algn="ctr" indent="0" marL="0">
              <a:buNone/>
            </a:pPr>
            <a:r>
              <a:rPr lang="en-US" sz="2400" b="1" dirty="0">
                <a:solidFill>
                  <a:srgbClr val="FFFFFF"/>
                </a:solidFill>
              </a:rPr>
              <a:t>1</a:t>
            </a:r>
            <a:endParaRPr lang="en-US" sz="2400" dirty="0"/>
          </a:p>
        </p:txBody>
      </p:sp>
      <p:sp>
        <p:nvSpPr>
          <p:cNvPr id="8" name="Text 6"/>
          <p:cNvSpPr/>
          <p:nvPr/>
        </p:nvSpPr>
        <p:spPr>
          <a:xfrm>
            <a:off x="411480" y="2468880"/>
            <a:ext cx="1965960" cy="411480"/>
          </a:xfrm>
          <a:prstGeom prst="rect">
            <a:avLst/>
          </a:prstGeom>
          <a:noFill/>
          <a:ln/>
        </p:spPr>
        <p:txBody>
          <a:bodyPr wrap="square" lIns="0" tIns="0" rIns="0" bIns="0" rtlCol="0" anchor="ctr"/>
          <a:lstStyle/>
          <a:p>
            <a:pPr algn="ctr" indent="0" marL="0">
              <a:buNone/>
            </a:pPr>
            <a:r>
              <a:rPr lang="en-US" sz="1300" b="1" dirty="0">
                <a:solidFill>
                  <a:srgbClr val="1E293B"/>
                </a:solidFill>
              </a:rPr>
              <a:t>Veri Yükle</a:t>
            </a:r>
            <a:endParaRPr lang="en-US" sz="1300" dirty="0"/>
          </a:p>
        </p:txBody>
      </p:sp>
      <p:sp>
        <p:nvSpPr>
          <p:cNvPr id="9" name="Text 7"/>
          <p:cNvSpPr/>
          <p:nvPr/>
        </p:nvSpPr>
        <p:spPr>
          <a:xfrm>
            <a:off x="502920" y="2926080"/>
            <a:ext cx="1783080" cy="1005840"/>
          </a:xfrm>
          <a:prstGeom prst="rect">
            <a:avLst/>
          </a:prstGeom>
          <a:noFill/>
          <a:ln/>
        </p:spPr>
        <p:txBody>
          <a:bodyPr wrap="square" lIns="0" tIns="0" rIns="0" bIns="0" rtlCol="0" anchor="t"/>
          <a:lstStyle/>
          <a:p>
            <a:pPr algn="ctr" indent="0" marL="0">
              <a:buNone/>
            </a:pPr>
            <a:r>
              <a:rPr lang="en-US" sz="1100" dirty="0">
                <a:solidFill>
                  <a:srgbClr val="64748B"/>
                </a:solidFill>
              </a:rPr>
              <a:t>Bitcoin geçmiş fiyat verisi (CSV) veya canlı veri ile simülasyonu başlatın</a:t>
            </a:r>
            <a:endParaRPr lang="en-US" sz="1100" dirty="0"/>
          </a:p>
        </p:txBody>
      </p:sp>
      <p:sp>
        <p:nvSpPr>
          <p:cNvPr id="10" name="Shape 8"/>
          <p:cNvSpPr/>
          <p:nvPr/>
        </p:nvSpPr>
        <p:spPr>
          <a:xfrm>
            <a:off x="2377440" y="1792224"/>
            <a:ext cx="182880" cy="36576"/>
          </a:xfrm>
          <a:prstGeom prst="rect">
            <a:avLst/>
          </a:prstGeom>
          <a:solidFill>
            <a:srgbClr val="F7931A"/>
          </a:solidFill>
          <a:ln w="12700">
            <a:solidFill>
              <a:srgbClr val="F7931A"/>
            </a:solidFill>
            <a:prstDash val="solid"/>
          </a:ln>
        </p:spPr>
      </p:sp>
      <p:sp>
        <p:nvSpPr>
          <p:cNvPr id="11" name="Text 9"/>
          <p:cNvSpPr/>
          <p:nvPr/>
        </p:nvSpPr>
        <p:spPr>
          <a:xfrm>
            <a:off x="2350008" y="1691640"/>
            <a:ext cx="210312" cy="237744"/>
          </a:xfrm>
          <a:prstGeom prst="rect">
            <a:avLst/>
          </a:prstGeom>
          <a:noFill/>
          <a:ln/>
        </p:spPr>
        <p:txBody>
          <a:bodyPr wrap="square" lIns="0" tIns="0" rIns="0" bIns="0" rtlCol="0" anchor="ctr"/>
          <a:lstStyle/>
          <a:p>
            <a:pPr algn="ctr" indent="0" marL="0">
              <a:buNone/>
            </a:pPr>
            <a:r>
              <a:rPr lang="en-US" sz="1600" dirty="0">
                <a:solidFill>
                  <a:srgbClr val="F7931A"/>
                </a:solidFill>
              </a:rPr>
              <a:t>→</a:t>
            </a:r>
            <a:endParaRPr lang="en-US" sz="1600" dirty="0"/>
          </a:p>
        </p:txBody>
      </p:sp>
      <p:sp>
        <p:nvSpPr>
          <p:cNvPr id="12" name="Shape 10"/>
          <p:cNvSpPr/>
          <p:nvPr/>
        </p:nvSpPr>
        <p:spPr>
          <a:xfrm>
            <a:off x="2560320" y="1417320"/>
            <a:ext cx="1965960" cy="256032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8000"/>
              </a:srgbClr>
            </a:outerShdw>
          </a:effectLst>
        </p:spPr>
      </p:sp>
      <p:sp>
        <p:nvSpPr>
          <p:cNvPr id="13" name="Shape 11"/>
          <p:cNvSpPr/>
          <p:nvPr/>
        </p:nvSpPr>
        <p:spPr>
          <a:xfrm>
            <a:off x="3127248" y="1536192"/>
            <a:ext cx="822960" cy="822960"/>
          </a:xfrm>
          <a:prstGeom prst="ellipse">
            <a:avLst/>
          </a:prstGeom>
          <a:solidFill>
            <a:srgbClr val="F7931A"/>
          </a:solidFill>
          <a:ln w="12700">
            <a:solidFill>
              <a:srgbClr val="F7931A"/>
            </a:solidFill>
            <a:prstDash val="solid"/>
          </a:ln>
        </p:spPr>
      </p:sp>
      <p:sp>
        <p:nvSpPr>
          <p:cNvPr id="14" name="Text 12"/>
          <p:cNvSpPr/>
          <p:nvPr/>
        </p:nvSpPr>
        <p:spPr>
          <a:xfrm>
            <a:off x="3127248" y="1536192"/>
            <a:ext cx="822960" cy="822960"/>
          </a:xfrm>
          <a:prstGeom prst="rect">
            <a:avLst/>
          </a:prstGeom>
          <a:noFill/>
          <a:ln/>
        </p:spPr>
        <p:txBody>
          <a:bodyPr wrap="square" lIns="0" tIns="0" rIns="0" bIns="0" rtlCol="0" anchor="ctr"/>
          <a:lstStyle/>
          <a:p>
            <a:pPr algn="ctr" indent="0" marL="0">
              <a:buNone/>
            </a:pPr>
            <a:r>
              <a:rPr lang="en-US" sz="2400" b="1" dirty="0">
                <a:solidFill>
                  <a:srgbClr val="FFFFFF"/>
                </a:solidFill>
              </a:rPr>
              <a:t>2</a:t>
            </a:r>
            <a:endParaRPr lang="en-US" sz="2400" dirty="0"/>
          </a:p>
        </p:txBody>
      </p:sp>
      <p:sp>
        <p:nvSpPr>
          <p:cNvPr id="15" name="Text 13"/>
          <p:cNvSpPr/>
          <p:nvPr/>
        </p:nvSpPr>
        <p:spPr>
          <a:xfrm>
            <a:off x="2560320" y="2468880"/>
            <a:ext cx="1965960" cy="411480"/>
          </a:xfrm>
          <a:prstGeom prst="rect">
            <a:avLst/>
          </a:prstGeom>
          <a:noFill/>
          <a:ln/>
        </p:spPr>
        <p:txBody>
          <a:bodyPr wrap="square" lIns="0" tIns="0" rIns="0" bIns="0" rtlCol="0" anchor="ctr"/>
          <a:lstStyle/>
          <a:p>
            <a:pPr algn="ctr" indent="0" marL="0">
              <a:buNone/>
            </a:pPr>
            <a:r>
              <a:rPr lang="en-US" sz="1300" b="1" dirty="0">
                <a:solidFill>
                  <a:srgbClr val="1E293B"/>
                </a:solidFill>
              </a:rPr>
              <a:t>Strateji Seç</a:t>
            </a:r>
            <a:endParaRPr lang="en-US" sz="1300" dirty="0"/>
          </a:p>
        </p:txBody>
      </p:sp>
      <p:sp>
        <p:nvSpPr>
          <p:cNvPr id="16" name="Text 14"/>
          <p:cNvSpPr/>
          <p:nvPr/>
        </p:nvSpPr>
        <p:spPr>
          <a:xfrm>
            <a:off x="2651760" y="2926080"/>
            <a:ext cx="1783080" cy="1005840"/>
          </a:xfrm>
          <a:prstGeom prst="rect">
            <a:avLst/>
          </a:prstGeom>
          <a:noFill/>
          <a:ln/>
        </p:spPr>
        <p:txBody>
          <a:bodyPr wrap="square" lIns="0" tIns="0" rIns="0" bIns="0" rtlCol="0" anchor="t"/>
          <a:lstStyle/>
          <a:p>
            <a:pPr algn="ctr" indent="0" marL="0">
              <a:buNone/>
            </a:pPr>
            <a:r>
              <a:rPr lang="en-US" sz="1100" dirty="0">
                <a:solidFill>
                  <a:srgbClr val="64748B"/>
                </a:solidFill>
              </a:rPr>
              <a:t>Hazır botlardan birini seçin ya da AI ile kendinize özel bir bot oluşturun</a:t>
            </a:r>
            <a:endParaRPr lang="en-US" sz="1100" dirty="0"/>
          </a:p>
        </p:txBody>
      </p:sp>
      <p:sp>
        <p:nvSpPr>
          <p:cNvPr id="17" name="Shape 15"/>
          <p:cNvSpPr/>
          <p:nvPr/>
        </p:nvSpPr>
        <p:spPr>
          <a:xfrm>
            <a:off x="4526280" y="1792224"/>
            <a:ext cx="182880" cy="36576"/>
          </a:xfrm>
          <a:prstGeom prst="rect">
            <a:avLst/>
          </a:prstGeom>
          <a:solidFill>
            <a:srgbClr val="F7931A"/>
          </a:solidFill>
          <a:ln w="12700">
            <a:solidFill>
              <a:srgbClr val="F7931A"/>
            </a:solidFill>
            <a:prstDash val="solid"/>
          </a:ln>
        </p:spPr>
      </p:sp>
      <p:sp>
        <p:nvSpPr>
          <p:cNvPr id="18" name="Text 16"/>
          <p:cNvSpPr/>
          <p:nvPr/>
        </p:nvSpPr>
        <p:spPr>
          <a:xfrm>
            <a:off x="4498848" y="1691640"/>
            <a:ext cx="210312" cy="237744"/>
          </a:xfrm>
          <a:prstGeom prst="rect">
            <a:avLst/>
          </a:prstGeom>
          <a:noFill/>
          <a:ln/>
        </p:spPr>
        <p:txBody>
          <a:bodyPr wrap="square" lIns="0" tIns="0" rIns="0" bIns="0" rtlCol="0" anchor="ctr"/>
          <a:lstStyle/>
          <a:p>
            <a:pPr algn="ctr" indent="0" marL="0">
              <a:buNone/>
            </a:pPr>
            <a:r>
              <a:rPr lang="en-US" sz="1600" dirty="0">
                <a:solidFill>
                  <a:srgbClr val="F7931A"/>
                </a:solidFill>
              </a:rPr>
              <a:t>→</a:t>
            </a:r>
            <a:endParaRPr lang="en-US" sz="1600" dirty="0"/>
          </a:p>
        </p:txBody>
      </p:sp>
      <p:sp>
        <p:nvSpPr>
          <p:cNvPr id="19" name="Shape 17"/>
          <p:cNvSpPr/>
          <p:nvPr/>
        </p:nvSpPr>
        <p:spPr>
          <a:xfrm>
            <a:off x="4709160" y="1417320"/>
            <a:ext cx="1965960" cy="256032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8000"/>
              </a:srgbClr>
            </a:outerShdw>
          </a:effectLst>
        </p:spPr>
      </p:sp>
      <p:sp>
        <p:nvSpPr>
          <p:cNvPr id="20" name="Shape 18"/>
          <p:cNvSpPr/>
          <p:nvPr/>
        </p:nvSpPr>
        <p:spPr>
          <a:xfrm>
            <a:off x="5276088" y="1536192"/>
            <a:ext cx="822960" cy="822960"/>
          </a:xfrm>
          <a:prstGeom prst="ellipse">
            <a:avLst/>
          </a:prstGeom>
          <a:solidFill>
            <a:srgbClr val="F7931A"/>
          </a:solidFill>
          <a:ln w="12700">
            <a:solidFill>
              <a:srgbClr val="F7931A"/>
            </a:solidFill>
            <a:prstDash val="solid"/>
          </a:ln>
        </p:spPr>
      </p:sp>
      <p:sp>
        <p:nvSpPr>
          <p:cNvPr id="21" name="Text 19"/>
          <p:cNvSpPr/>
          <p:nvPr/>
        </p:nvSpPr>
        <p:spPr>
          <a:xfrm>
            <a:off x="5276088" y="1536192"/>
            <a:ext cx="822960" cy="822960"/>
          </a:xfrm>
          <a:prstGeom prst="rect">
            <a:avLst/>
          </a:prstGeom>
          <a:noFill/>
          <a:ln/>
        </p:spPr>
        <p:txBody>
          <a:bodyPr wrap="square" lIns="0" tIns="0" rIns="0" bIns="0" rtlCol="0" anchor="ctr"/>
          <a:lstStyle/>
          <a:p>
            <a:pPr algn="ctr" indent="0" marL="0">
              <a:buNone/>
            </a:pPr>
            <a:r>
              <a:rPr lang="en-US" sz="2400" b="1" dirty="0">
                <a:solidFill>
                  <a:srgbClr val="FFFFFF"/>
                </a:solidFill>
              </a:rPr>
              <a:t>3</a:t>
            </a:r>
            <a:endParaRPr lang="en-US" sz="2400" dirty="0"/>
          </a:p>
        </p:txBody>
      </p:sp>
      <p:sp>
        <p:nvSpPr>
          <p:cNvPr id="22" name="Text 20"/>
          <p:cNvSpPr/>
          <p:nvPr/>
        </p:nvSpPr>
        <p:spPr>
          <a:xfrm>
            <a:off x="4709160" y="2468880"/>
            <a:ext cx="1965960" cy="411480"/>
          </a:xfrm>
          <a:prstGeom prst="rect">
            <a:avLst/>
          </a:prstGeom>
          <a:noFill/>
          <a:ln/>
        </p:spPr>
        <p:txBody>
          <a:bodyPr wrap="square" lIns="0" tIns="0" rIns="0" bIns="0" rtlCol="0" anchor="ctr"/>
          <a:lstStyle/>
          <a:p>
            <a:pPr algn="ctr" indent="0" marL="0">
              <a:buNone/>
            </a:pPr>
            <a:r>
              <a:rPr lang="en-US" sz="1300" b="1" dirty="0">
                <a:solidFill>
                  <a:srgbClr val="1E293B"/>
                </a:solidFill>
              </a:rPr>
              <a:t>Simüle Et</a:t>
            </a:r>
            <a:endParaRPr lang="en-US" sz="1300" dirty="0"/>
          </a:p>
        </p:txBody>
      </p:sp>
      <p:sp>
        <p:nvSpPr>
          <p:cNvPr id="23" name="Text 21"/>
          <p:cNvSpPr/>
          <p:nvPr/>
        </p:nvSpPr>
        <p:spPr>
          <a:xfrm>
            <a:off x="4800600" y="2926080"/>
            <a:ext cx="1783080" cy="1005840"/>
          </a:xfrm>
          <a:prstGeom prst="rect">
            <a:avLst/>
          </a:prstGeom>
          <a:noFill/>
          <a:ln/>
        </p:spPr>
        <p:txBody>
          <a:bodyPr wrap="square" lIns="0" tIns="0" rIns="0" bIns="0" rtlCol="0" anchor="t"/>
          <a:lstStyle/>
          <a:p>
            <a:pPr algn="ctr" indent="0" marL="0">
              <a:buNone/>
            </a:pPr>
            <a:r>
              <a:rPr lang="en-US" sz="1100" dirty="0">
                <a:solidFill>
                  <a:srgbClr val="64748B"/>
                </a:solidFill>
              </a:rPr>
              <a:t>Gerçekçi piyasa koşullarında pozisyon açın, botları çalıştırın</a:t>
            </a:r>
            <a:endParaRPr lang="en-US" sz="1100" dirty="0"/>
          </a:p>
        </p:txBody>
      </p:sp>
      <p:sp>
        <p:nvSpPr>
          <p:cNvPr id="24" name="Shape 22"/>
          <p:cNvSpPr/>
          <p:nvPr/>
        </p:nvSpPr>
        <p:spPr>
          <a:xfrm>
            <a:off x="6675120" y="1792224"/>
            <a:ext cx="182880" cy="36576"/>
          </a:xfrm>
          <a:prstGeom prst="rect">
            <a:avLst/>
          </a:prstGeom>
          <a:solidFill>
            <a:srgbClr val="F7931A"/>
          </a:solidFill>
          <a:ln w="12700">
            <a:solidFill>
              <a:srgbClr val="F7931A"/>
            </a:solidFill>
            <a:prstDash val="solid"/>
          </a:ln>
        </p:spPr>
      </p:sp>
      <p:sp>
        <p:nvSpPr>
          <p:cNvPr id="25" name="Text 23"/>
          <p:cNvSpPr/>
          <p:nvPr/>
        </p:nvSpPr>
        <p:spPr>
          <a:xfrm>
            <a:off x="6647688" y="1691640"/>
            <a:ext cx="210312" cy="237744"/>
          </a:xfrm>
          <a:prstGeom prst="rect">
            <a:avLst/>
          </a:prstGeom>
          <a:noFill/>
          <a:ln/>
        </p:spPr>
        <p:txBody>
          <a:bodyPr wrap="square" lIns="0" tIns="0" rIns="0" bIns="0" rtlCol="0" anchor="ctr"/>
          <a:lstStyle/>
          <a:p>
            <a:pPr algn="ctr" indent="0" marL="0">
              <a:buNone/>
            </a:pPr>
            <a:r>
              <a:rPr lang="en-US" sz="1600" dirty="0">
                <a:solidFill>
                  <a:srgbClr val="F7931A"/>
                </a:solidFill>
              </a:rPr>
              <a:t>→</a:t>
            </a:r>
            <a:endParaRPr lang="en-US" sz="1600" dirty="0"/>
          </a:p>
        </p:txBody>
      </p:sp>
      <p:sp>
        <p:nvSpPr>
          <p:cNvPr id="26" name="Shape 24"/>
          <p:cNvSpPr/>
          <p:nvPr/>
        </p:nvSpPr>
        <p:spPr>
          <a:xfrm>
            <a:off x="6858000" y="1417320"/>
            <a:ext cx="1965960" cy="2560320"/>
          </a:xfrm>
          <a:prstGeom prst="rect">
            <a:avLst/>
          </a:prstGeom>
          <a:solidFill>
            <a:srgbClr val="FFFFFF"/>
          </a:solidFill>
          <a:ln w="12700">
            <a:solidFill>
              <a:srgbClr val="E2E8F0"/>
            </a:solidFill>
            <a:prstDash val="solid"/>
          </a:ln>
          <a:effectLst>
            <a:outerShdw sx="100000" sy="100000" kx="0" ky="0" algn="bl" rotWithShape="0" blurRad="101600" dist="25400" dir="8100000">
              <a:srgbClr val="000000">
                <a:alpha val="8000"/>
              </a:srgbClr>
            </a:outerShdw>
          </a:effectLst>
        </p:spPr>
      </p:sp>
      <p:sp>
        <p:nvSpPr>
          <p:cNvPr id="27" name="Shape 25"/>
          <p:cNvSpPr/>
          <p:nvPr/>
        </p:nvSpPr>
        <p:spPr>
          <a:xfrm>
            <a:off x="7424928" y="1536192"/>
            <a:ext cx="822960" cy="822960"/>
          </a:xfrm>
          <a:prstGeom prst="ellipse">
            <a:avLst/>
          </a:prstGeom>
          <a:solidFill>
            <a:srgbClr val="F7931A"/>
          </a:solidFill>
          <a:ln w="12700">
            <a:solidFill>
              <a:srgbClr val="F7931A"/>
            </a:solidFill>
            <a:prstDash val="solid"/>
          </a:ln>
        </p:spPr>
      </p:sp>
      <p:sp>
        <p:nvSpPr>
          <p:cNvPr id="28" name="Text 26"/>
          <p:cNvSpPr/>
          <p:nvPr/>
        </p:nvSpPr>
        <p:spPr>
          <a:xfrm>
            <a:off x="7424928" y="1536192"/>
            <a:ext cx="822960" cy="822960"/>
          </a:xfrm>
          <a:prstGeom prst="rect">
            <a:avLst/>
          </a:prstGeom>
          <a:noFill/>
          <a:ln/>
        </p:spPr>
        <p:txBody>
          <a:bodyPr wrap="square" lIns="0" tIns="0" rIns="0" bIns="0" rtlCol="0" anchor="ctr"/>
          <a:lstStyle/>
          <a:p>
            <a:pPr algn="ctr" indent="0" marL="0">
              <a:buNone/>
            </a:pPr>
            <a:r>
              <a:rPr lang="en-US" sz="2400" b="1" dirty="0">
                <a:solidFill>
                  <a:srgbClr val="FFFFFF"/>
                </a:solidFill>
              </a:rPr>
              <a:t>4</a:t>
            </a:r>
            <a:endParaRPr lang="en-US" sz="2400" dirty="0"/>
          </a:p>
        </p:txBody>
      </p:sp>
      <p:sp>
        <p:nvSpPr>
          <p:cNvPr id="29" name="Text 27"/>
          <p:cNvSpPr/>
          <p:nvPr/>
        </p:nvSpPr>
        <p:spPr>
          <a:xfrm>
            <a:off x="6858000" y="2468880"/>
            <a:ext cx="1965960" cy="411480"/>
          </a:xfrm>
          <a:prstGeom prst="rect">
            <a:avLst/>
          </a:prstGeom>
          <a:noFill/>
          <a:ln/>
        </p:spPr>
        <p:txBody>
          <a:bodyPr wrap="square" lIns="0" tIns="0" rIns="0" bIns="0" rtlCol="0" anchor="ctr"/>
          <a:lstStyle/>
          <a:p>
            <a:pPr algn="ctr" indent="0" marL="0">
              <a:buNone/>
            </a:pPr>
            <a:r>
              <a:rPr lang="en-US" sz="1300" b="1" dirty="0">
                <a:solidFill>
                  <a:srgbClr val="1E293B"/>
                </a:solidFill>
              </a:rPr>
              <a:t>Analiz Et</a:t>
            </a:r>
            <a:endParaRPr lang="en-US" sz="1300" dirty="0"/>
          </a:p>
        </p:txBody>
      </p:sp>
      <p:sp>
        <p:nvSpPr>
          <p:cNvPr id="30" name="Text 28"/>
          <p:cNvSpPr/>
          <p:nvPr/>
        </p:nvSpPr>
        <p:spPr>
          <a:xfrm>
            <a:off x="6949440" y="2926080"/>
            <a:ext cx="1783080" cy="1005840"/>
          </a:xfrm>
          <a:prstGeom prst="rect">
            <a:avLst/>
          </a:prstGeom>
          <a:noFill/>
          <a:ln/>
        </p:spPr>
        <p:txBody>
          <a:bodyPr wrap="square" lIns="0" tIns="0" rIns="0" bIns="0" rtlCol="0" anchor="t"/>
          <a:lstStyle/>
          <a:p>
            <a:pPr algn="ctr" indent="0" marL="0">
              <a:buNone/>
            </a:pPr>
            <a:r>
              <a:rPr lang="en-US" sz="1100" dirty="0">
                <a:solidFill>
                  <a:srgbClr val="64748B"/>
                </a:solidFill>
              </a:rPr>
              <a:t>Sonuçları inceleyin, stratejiyi iyileştirin ve tekrar test edin</a:t>
            </a:r>
            <a:endParaRPr lang="en-US" sz="1100" dirty="0"/>
          </a:p>
        </p:txBody>
      </p:sp>
      <p:sp>
        <p:nvSpPr>
          <p:cNvPr id="31" name="Shape 29"/>
          <p:cNvSpPr/>
          <p:nvPr/>
        </p:nvSpPr>
        <p:spPr>
          <a:xfrm>
            <a:off x="411480" y="4251960"/>
            <a:ext cx="8321040" cy="640080"/>
          </a:xfrm>
          <a:prstGeom prst="rect">
            <a:avLst/>
          </a:prstGeom>
          <a:solidFill>
            <a:srgbClr val="EFF6FF"/>
          </a:solidFill>
          <a:ln w="12700">
            <a:solidFill>
              <a:srgbClr val="BFDBFE"/>
            </a:solidFill>
            <a:prstDash val="solid"/>
          </a:ln>
        </p:spPr>
      </p:sp>
      <p:sp>
        <p:nvSpPr>
          <p:cNvPr id="32" name="Text 30"/>
          <p:cNvSpPr/>
          <p:nvPr/>
        </p:nvSpPr>
        <p:spPr>
          <a:xfrm>
            <a:off x="548640" y="4251960"/>
            <a:ext cx="8138160" cy="640080"/>
          </a:xfrm>
          <a:prstGeom prst="rect">
            <a:avLst/>
          </a:prstGeom>
          <a:noFill/>
          <a:ln/>
        </p:spPr>
        <p:txBody>
          <a:bodyPr wrap="square" lIns="0" tIns="0" rIns="0" bIns="0" rtlCol="0" anchor="ctr"/>
          <a:lstStyle/>
          <a:p>
            <a:pPr algn="l" indent="0" marL="0">
              <a:buNone/>
            </a:pPr>
            <a:r>
              <a:rPr lang="en-US" sz="1250" dirty="0">
                <a:solidFill>
                  <a:srgbClr val="1E40AF"/>
                </a:solidFill>
              </a:rPr>
              <a:t>💡  Bu döngü sürekli tekrarlanabilir — her iterasyonda strateji daha da gelişir. Gerçek paranız güvende.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11480" y="274320"/>
            <a:ext cx="1737360" cy="292608"/>
          </a:xfrm>
          <a:prstGeom prst="roundRect">
            <a:avLst>
              <a:gd name="adj" fmla="val 18750"/>
            </a:avLst>
          </a:prstGeom>
          <a:solidFill>
            <a:srgbClr val="F7931A"/>
          </a:solidFill>
          <a:ln w="12700">
            <a:solidFill>
              <a:srgbClr val="F7931A"/>
            </a:solidFill>
            <a:prstDash val="solid"/>
          </a:ln>
        </p:spPr>
      </p:sp>
      <p:sp>
        <p:nvSpPr>
          <p:cNvPr id="3" name="Text 1"/>
          <p:cNvSpPr/>
          <p:nvPr/>
        </p:nvSpPr>
        <p:spPr>
          <a:xfrm>
            <a:off x="411480" y="274320"/>
            <a:ext cx="1737360" cy="292608"/>
          </a:xfrm>
          <a:prstGeom prst="rect">
            <a:avLst/>
          </a:prstGeom>
          <a:noFill/>
          <a:ln/>
        </p:spPr>
        <p:txBody>
          <a:bodyPr wrap="square" lIns="0" tIns="0" rIns="0" bIns="0" rtlCol="0" anchor="ctr"/>
          <a:lstStyle/>
          <a:p>
            <a:pPr algn="ctr" indent="0" marL="0">
              <a:buNone/>
            </a:pPr>
            <a:r>
              <a:rPr lang="en-US" sz="850" b="1" dirty="0">
                <a:solidFill>
                  <a:srgbClr val="FFFFFF"/>
                </a:solidFill>
              </a:rPr>
              <a:t>TEMEL ÖZELLIK</a:t>
            </a:r>
            <a:endParaRPr lang="en-US" sz="850" dirty="0"/>
          </a:p>
        </p:txBody>
      </p:sp>
      <p:sp>
        <p:nvSpPr>
          <p:cNvPr id="4" name="Text 2"/>
          <p:cNvSpPr/>
          <p:nvPr/>
        </p:nvSpPr>
        <p:spPr>
          <a:xfrm>
            <a:off x="411480" y="685800"/>
            <a:ext cx="8321040" cy="594360"/>
          </a:xfrm>
          <a:prstGeom prst="rect">
            <a:avLst/>
          </a:prstGeom>
          <a:noFill/>
          <a:ln/>
        </p:spPr>
        <p:txBody>
          <a:bodyPr wrap="square" lIns="0" tIns="0" rIns="0" bIns="0" rtlCol="0" anchor="ctr"/>
          <a:lstStyle/>
          <a:p>
            <a:pPr algn="l" indent="0" marL="0">
              <a:buNone/>
            </a:pPr>
            <a:r>
              <a:rPr lang="en-US" sz="2800" b="1" dirty="0">
                <a:solidFill>
                  <a:srgbClr val="F1F5F9"/>
                </a:solidFill>
              </a:rPr>
              <a:t>Gerçekçi Piyasa Simülasyonu</a:t>
            </a:r>
            <a:endParaRPr lang="en-US" sz="2800" dirty="0"/>
          </a:p>
        </p:txBody>
      </p:sp>
      <p:sp>
        <p:nvSpPr>
          <p:cNvPr id="5" name="Shape 3"/>
          <p:cNvSpPr/>
          <p:nvPr/>
        </p:nvSpPr>
        <p:spPr>
          <a:xfrm>
            <a:off x="411480" y="1417320"/>
            <a:ext cx="2743200" cy="1508760"/>
          </a:xfrm>
          <a:prstGeom prst="rect">
            <a:avLst/>
          </a:prstGeom>
          <a:solidFill>
            <a:srgbClr val="1A2F4A"/>
          </a:solidFill>
          <a:ln w="12700">
            <a:solidFill>
              <a:srgbClr val="1E3A5F"/>
            </a:solidFill>
            <a:prstDash val="solid"/>
          </a:ln>
        </p:spPr>
      </p:sp>
      <p:sp>
        <p:nvSpPr>
          <p:cNvPr id="6" name="Shape 4"/>
          <p:cNvSpPr/>
          <p:nvPr/>
        </p:nvSpPr>
        <p:spPr>
          <a:xfrm>
            <a:off x="411480" y="1417320"/>
            <a:ext cx="2743200" cy="54864"/>
          </a:xfrm>
          <a:prstGeom prst="rect">
            <a:avLst/>
          </a:prstGeom>
          <a:solidFill>
            <a:srgbClr val="22D3EE"/>
          </a:solidFill>
          <a:ln w="12700">
            <a:solidFill>
              <a:srgbClr val="22D3EE"/>
            </a:solidFill>
            <a:prstDash val="solid"/>
          </a:ln>
        </p:spPr>
      </p:sp>
      <p:sp>
        <p:nvSpPr>
          <p:cNvPr id="7" name="Text 5"/>
          <p:cNvSpPr/>
          <p:nvPr/>
        </p:nvSpPr>
        <p:spPr>
          <a:xfrm>
            <a:off x="521208" y="1527048"/>
            <a:ext cx="2523744" cy="384048"/>
          </a:xfrm>
          <a:prstGeom prst="rect">
            <a:avLst/>
          </a:prstGeom>
          <a:noFill/>
          <a:ln/>
        </p:spPr>
        <p:txBody>
          <a:bodyPr wrap="square" lIns="0" tIns="0" rIns="0" bIns="0" rtlCol="0" anchor="ctr"/>
          <a:lstStyle/>
          <a:p>
            <a:pPr indent="0" marL="0">
              <a:buNone/>
            </a:pPr>
            <a:r>
              <a:rPr lang="en-US" sz="1200" b="1" dirty="0">
                <a:solidFill>
                  <a:srgbClr val="F1F5F9"/>
                </a:solidFill>
              </a:rPr>
              <a:t>⚡  Kaldıraç (1x – 20x)</a:t>
            </a:r>
            <a:endParaRPr lang="en-US" sz="1200" dirty="0"/>
          </a:p>
        </p:txBody>
      </p:sp>
      <p:sp>
        <p:nvSpPr>
          <p:cNvPr id="8" name="Text 6"/>
          <p:cNvSpPr/>
          <p:nvPr/>
        </p:nvSpPr>
        <p:spPr>
          <a:xfrm>
            <a:off x="521208" y="1911096"/>
            <a:ext cx="2523744" cy="822960"/>
          </a:xfrm>
          <a:prstGeom prst="rect">
            <a:avLst/>
          </a:prstGeom>
          <a:noFill/>
          <a:ln/>
        </p:spPr>
        <p:txBody>
          <a:bodyPr wrap="square" lIns="0" tIns="0" rIns="0" bIns="0" rtlCol="0" anchor="ctr"/>
          <a:lstStyle/>
          <a:p>
            <a:pPr indent="0" marL="0">
              <a:buNone/>
            </a:pPr>
            <a:r>
              <a:rPr lang="en-US" sz="1050" dirty="0">
                <a:solidFill>
                  <a:srgbClr val="94A3B8"/>
                </a:solidFill>
              </a:rPr>
              <a:t>Gerçek borsa koşullarını yansıtan kaldıraçlı pozisyonlar</a:t>
            </a:r>
            <a:endParaRPr lang="en-US" sz="1050" dirty="0"/>
          </a:p>
        </p:txBody>
      </p:sp>
      <p:sp>
        <p:nvSpPr>
          <p:cNvPr id="9" name="Shape 7"/>
          <p:cNvSpPr/>
          <p:nvPr/>
        </p:nvSpPr>
        <p:spPr>
          <a:xfrm>
            <a:off x="3355848" y="1417320"/>
            <a:ext cx="2743200" cy="1508760"/>
          </a:xfrm>
          <a:prstGeom prst="rect">
            <a:avLst/>
          </a:prstGeom>
          <a:solidFill>
            <a:srgbClr val="1A2F4A"/>
          </a:solidFill>
          <a:ln w="12700">
            <a:solidFill>
              <a:srgbClr val="1E3A5F"/>
            </a:solidFill>
            <a:prstDash val="solid"/>
          </a:ln>
        </p:spPr>
      </p:sp>
      <p:sp>
        <p:nvSpPr>
          <p:cNvPr id="10" name="Shape 8"/>
          <p:cNvSpPr/>
          <p:nvPr/>
        </p:nvSpPr>
        <p:spPr>
          <a:xfrm>
            <a:off x="3355848" y="1417320"/>
            <a:ext cx="2743200" cy="54864"/>
          </a:xfrm>
          <a:prstGeom prst="rect">
            <a:avLst/>
          </a:prstGeom>
          <a:solidFill>
            <a:srgbClr val="22D3EE"/>
          </a:solidFill>
          <a:ln w="12700">
            <a:solidFill>
              <a:srgbClr val="22D3EE"/>
            </a:solidFill>
            <a:prstDash val="solid"/>
          </a:ln>
        </p:spPr>
      </p:sp>
      <p:sp>
        <p:nvSpPr>
          <p:cNvPr id="11" name="Text 9"/>
          <p:cNvSpPr/>
          <p:nvPr/>
        </p:nvSpPr>
        <p:spPr>
          <a:xfrm>
            <a:off x="3465576" y="1527048"/>
            <a:ext cx="2523744" cy="384048"/>
          </a:xfrm>
          <a:prstGeom prst="rect">
            <a:avLst/>
          </a:prstGeom>
          <a:noFill/>
          <a:ln/>
        </p:spPr>
        <p:txBody>
          <a:bodyPr wrap="square" lIns="0" tIns="0" rIns="0" bIns="0" rtlCol="0" anchor="ctr"/>
          <a:lstStyle/>
          <a:p>
            <a:pPr indent="0" marL="0">
              <a:buNone/>
            </a:pPr>
            <a:r>
              <a:rPr lang="en-US" sz="1200" b="1" dirty="0">
                <a:solidFill>
                  <a:srgbClr val="F1F5F9"/>
                </a:solidFill>
              </a:rPr>
              <a:t>💥  Likidisyon Motoru</a:t>
            </a:r>
            <a:endParaRPr lang="en-US" sz="1200" dirty="0"/>
          </a:p>
        </p:txBody>
      </p:sp>
      <p:sp>
        <p:nvSpPr>
          <p:cNvPr id="12" name="Text 10"/>
          <p:cNvSpPr/>
          <p:nvPr/>
        </p:nvSpPr>
        <p:spPr>
          <a:xfrm>
            <a:off x="3465576" y="1911096"/>
            <a:ext cx="2523744" cy="822960"/>
          </a:xfrm>
          <a:prstGeom prst="rect">
            <a:avLst/>
          </a:prstGeom>
          <a:noFill/>
          <a:ln/>
        </p:spPr>
        <p:txBody>
          <a:bodyPr wrap="square" lIns="0" tIns="0" rIns="0" bIns="0" rtlCol="0" anchor="ctr"/>
          <a:lstStyle/>
          <a:p>
            <a:pPr indent="0" marL="0">
              <a:buNone/>
            </a:pPr>
            <a:r>
              <a:rPr lang="en-US" sz="1050" dirty="0">
                <a:solidFill>
                  <a:srgbClr val="94A3B8"/>
                </a:solidFill>
              </a:rPr>
              <a:t>Marjin yetersiz kalırsa pozisyon otomatik kapatılır — tıpkı gerçek borsada</a:t>
            </a:r>
            <a:endParaRPr lang="en-US" sz="1050" dirty="0"/>
          </a:p>
        </p:txBody>
      </p:sp>
      <p:sp>
        <p:nvSpPr>
          <p:cNvPr id="13" name="Shape 11"/>
          <p:cNvSpPr/>
          <p:nvPr/>
        </p:nvSpPr>
        <p:spPr>
          <a:xfrm>
            <a:off x="6300216" y="1417320"/>
            <a:ext cx="2743200" cy="1508760"/>
          </a:xfrm>
          <a:prstGeom prst="rect">
            <a:avLst/>
          </a:prstGeom>
          <a:solidFill>
            <a:srgbClr val="1A2F4A"/>
          </a:solidFill>
          <a:ln w="12700">
            <a:solidFill>
              <a:srgbClr val="1E3A5F"/>
            </a:solidFill>
            <a:prstDash val="solid"/>
          </a:ln>
        </p:spPr>
      </p:sp>
      <p:sp>
        <p:nvSpPr>
          <p:cNvPr id="14" name="Shape 12"/>
          <p:cNvSpPr/>
          <p:nvPr/>
        </p:nvSpPr>
        <p:spPr>
          <a:xfrm>
            <a:off x="6300216" y="1417320"/>
            <a:ext cx="2743200" cy="54864"/>
          </a:xfrm>
          <a:prstGeom prst="rect">
            <a:avLst/>
          </a:prstGeom>
          <a:solidFill>
            <a:srgbClr val="22D3EE"/>
          </a:solidFill>
          <a:ln w="12700">
            <a:solidFill>
              <a:srgbClr val="22D3EE"/>
            </a:solidFill>
            <a:prstDash val="solid"/>
          </a:ln>
        </p:spPr>
      </p:sp>
      <p:sp>
        <p:nvSpPr>
          <p:cNvPr id="15" name="Text 13"/>
          <p:cNvSpPr/>
          <p:nvPr/>
        </p:nvSpPr>
        <p:spPr>
          <a:xfrm>
            <a:off x="6409944" y="1527048"/>
            <a:ext cx="2523744" cy="384048"/>
          </a:xfrm>
          <a:prstGeom prst="rect">
            <a:avLst/>
          </a:prstGeom>
          <a:noFill/>
          <a:ln/>
        </p:spPr>
        <p:txBody>
          <a:bodyPr wrap="square" lIns="0" tIns="0" rIns="0" bIns="0" rtlCol="0" anchor="ctr"/>
          <a:lstStyle/>
          <a:p>
            <a:pPr indent="0" marL="0">
              <a:buNone/>
            </a:pPr>
            <a:r>
              <a:rPr lang="en-US" sz="1200" b="1" dirty="0">
                <a:solidFill>
                  <a:srgbClr val="F1F5F9"/>
                </a:solidFill>
              </a:rPr>
              <a:t>🛑  Stop-Loss / Take-Profit</a:t>
            </a:r>
            <a:endParaRPr lang="en-US" sz="1200" dirty="0"/>
          </a:p>
        </p:txBody>
      </p:sp>
      <p:sp>
        <p:nvSpPr>
          <p:cNvPr id="16" name="Text 14"/>
          <p:cNvSpPr/>
          <p:nvPr/>
        </p:nvSpPr>
        <p:spPr>
          <a:xfrm>
            <a:off x="6409944" y="1911096"/>
            <a:ext cx="2523744" cy="822960"/>
          </a:xfrm>
          <a:prstGeom prst="rect">
            <a:avLst/>
          </a:prstGeom>
          <a:noFill/>
          <a:ln/>
        </p:spPr>
        <p:txBody>
          <a:bodyPr wrap="square" lIns="0" tIns="0" rIns="0" bIns="0" rtlCol="0" anchor="ctr"/>
          <a:lstStyle/>
          <a:p>
            <a:pPr indent="0" marL="0">
              <a:buNone/>
            </a:pPr>
            <a:r>
              <a:rPr lang="en-US" sz="1050" dirty="0">
                <a:solidFill>
                  <a:srgbClr val="94A3B8"/>
                </a:solidFill>
              </a:rPr>
              <a:t>Risk yönetimi emirleri otomatik çalışır, strateji belirlediğiniz limitlere uyar</a:t>
            </a:r>
            <a:endParaRPr lang="en-US" sz="1050" dirty="0"/>
          </a:p>
        </p:txBody>
      </p:sp>
      <p:sp>
        <p:nvSpPr>
          <p:cNvPr id="17" name="Shape 15"/>
          <p:cNvSpPr/>
          <p:nvPr/>
        </p:nvSpPr>
        <p:spPr>
          <a:xfrm>
            <a:off x="411480" y="3108960"/>
            <a:ext cx="2743200" cy="1508760"/>
          </a:xfrm>
          <a:prstGeom prst="rect">
            <a:avLst/>
          </a:prstGeom>
          <a:solidFill>
            <a:srgbClr val="1A2F4A"/>
          </a:solidFill>
          <a:ln w="12700">
            <a:solidFill>
              <a:srgbClr val="1E3A5F"/>
            </a:solidFill>
            <a:prstDash val="solid"/>
          </a:ln>
        </p:spPr>
      </p:sp>
      <p:sp>
        <p:nvSpPr>
          <p:cNvPr id="18" name="Shape 16"/>
          <p:cNvSpPr/>
          <p:nvPr/>
        </p:nvSpPr>
        <p:spPr>
          <a:xfrm>
            <a:off x="411480" y="3108960"/>
            <a:ext cx="2743200" cy="54864"/>
          </a:xfrm>
          <a:prstGeom prst="rect">
            <a:avLst/>
          </a:prstGeom>
          <a:solidFill>
            <a:srgbClr val="22D3EE"/>
          </a:solidFill>
          <a:ln w="12700">
            <a:solidFill>
              <a:srgbClr val="22D3EE"/>
            </a:solidFill>
            <a:prstDash val="solid"/>
          </a:ln>
        </p:spPr>
      </p:sp>
      <p:sp>
        <p:nvSpPr>
          <p:cNvPr id="19" name="Text 17"/>
          <p:cNvSpPr/>
          <p:nvPr/>
        </p:nvSpPr>
        <p:spPr>
          <a:xfrm>
            <a:off x="521208" y="3218688"/>
            <a:ext cx="2523744" cy="384048"/>
          </a:xfrm>
          <a:prstGeom prst="rect">
            <a:avLst/>
          </a:prstGeom>
          <a:noFill/>
          <a:ln/>
        </p:spPr>
        <p:txBody>
          <a:bodyPr wrap="square" lIns="0" tIns="0" rIns="0" bIns="0" rtlCol="0" anchor="ctr"/>
          <a:lstStyle/>
          <a:p>
            <a:pPr indent="0" marL="0">
              <a:buNone/>
            </a:pPr>
            <a:r>
              <a:rPr lang="en-US" sz="1200" b="1" dirty="0">
                <a:solidFill>
                  <a:srgbClr val="F1F5F9"/>
                </a:solidFill>
              </a:rPr>
              <a:t>📉  Çoklu Zaman Dilimi</a:t>
            </a:r>
            <a:endParaRPr lang="en-US" sz="1200" dirty="0"/>
          </a:p>
        </p:txBody>
      </p:sp>
      <p:sp>
        <p:nvSpPr>
          <p:cNvPr id="20" name="Text 18"/>
          <p:cNvSpPr/>
          <p:nvPr/>
        </p:nvSpPr>
        <p:spPr>
          <a:xfrm>
            <a:off x="521208" y="3602736"/>
            <a:ext cx="2523744" cy="822960"/>
          </a:xfrm>
          <a:prstGeom prst="rect">
            <a:avLst/>
          </a:prstGeom>
          <a:noFill/>
          <a:ln/>
        </p:spPr>
        <p:txBody>
          <a:bodyPr wrap="square" lIns="0" tIns="0" rIns="0" bIns="0" rtlCol="0" anchor="ctr"/>
          <a:lstStyle/>
          <a:p>
            <a:pPr indent="0" marL="0">
              <a:buNone/>
            </a:pPr>
            <a:r>
              <a:rPr lang="en-US" sz="1050" dirty="0">
                <a:solidFill>
                  <a:srgbClr val="94A3B8"/>
                </a:solidFill>
              </a:rPr>
              <a:t>1 dakika, 5 dk, 15 dk, 1 saat ve 4 saatlik grafik verileri eş zamanlı</a:t>
            </a:r>
            <a:endParaRPr lang="en-US" sz="1050" dirty="0"/>
          </a:p>
        </p:txBody>
      </p:sp>
      <p:sp>
        <p:nvSpPr>
          <p:cNvPr id="21" name="Shape 19"/>
          <p:cNvSpPr/>
          <p:nvPr/>
        </p:nvSpPr>
        <p:spPr>
          <a:xfrm>
            <a:off x="3355848" y="3108960"/>
            <a:ext cx="2743200" cy="1508760"/>
          </a:xfrm>
          <a:prstGeom prst="rect">
            <a:avLst/>
          </a:prstGeom>
          <a:solidFill>
            <a:srgbClr val="1A2F4A"/>
          </a:solidFill>
          <a:ln w="12700">
            <a:solidFill>
              <a:srgbClr val="1E3A5F"/>
            </a:solidFill>
            <a:prstDash val="solid"/>
          </a:ln>
        </p:spPr>
      </p:sp>
      <p:sp>
        <p:nvSpPr>
          <p:cNvPr id="22" name="Shape 20"/>
          <p:cNvSpPr/>
          <p:nvPr/>
        </p:nvSpPr>
        <p:spPr>
          <a:xfrm>
            <a:off x="3355848" y="3108960"/>
            <a:ext cx="2743200" cy="54864"/>
          </a:xfrm>
          <a:prstGeom prst="rect">
            <a:avLst/>
          </a:prstGeom>
          <a:solidFill>
            <a:srgbClr val="22D3EE"/>
          </a:solidFill>
          <a:ln w="12700">
            <a:solidFill>
              <a:srgbClr val="22D3EE"/>
            </a:solidFill>
            <a:prstDash val="solid"/>
          </a:ln>
        </p:spPr>
      </p:sp>
      <p:sp>
        <p:nvSpPr>
          <p:cNvPr id="23" name="Text 21"/>
          <p:cNvSpPr/>
          <p:nvPr/>
        </p:nvSpPr>
        <p:spPr>
          <a:xfrm>
            <a:off x="3465576" y="3218688"/>
            <a:ext cx="2523744" cy="384048"/>
          </a:xfrm>
          <a:prstGeom prst="rect">
            <a:avLst/>
          </a:prstGeom>
          <a:noFill/>
          <a:ln/>
        </p:spPr>
        <p:txBody>
          <a:bodyPr wrap="square" lIns="0" tIns="0" rIns="0" bIns="0" rtlCol="0" anchor="ctr"/>
          <a:lstStyle/>
          <a:p>
            <a:pPr indent="0" marL="0">
              <a:buNone/>
            </a:pPr>
            <a:r>
              <a:rPr lang="en-US" sz="1200" b="1" dirty="0">
                <a:solidFill>
                  <a:srgbClr val="F1F5F9"/>
                </a:solidFill>
              </a:rPr>
              <a:t>📊  Komisyon Takibi</a:t>
            </a:r>
            <a:endParaRPr lang="en-US" sz="1200" dirty="0"/>
          </a:p>
        </p:txBody>
      </p:sp>
      <p:sp>
        <p:nvSpPr>
          <p:cNvPr id="24" name="Text 22"/>
          <p:cNvSpPr/>
          <p:nvPr/>
        </p:nvSpPr>
        <p:spPr>
          <a:xfrm>
            <a:off x="3465576" y="3602736"/>
            <a:ext cx="2523744" cy="822960"/>
          </a:xfrm>
          <a:prstGeom prst="rect">
            <a:avLst/>
          </a:prstGeom>
          <a:noFill/>
          <a:ln/>
        </p:spPr>
        <p:txBody>
          <a:bodyPr wrap="square" lIns="0" tIns="0" rIns="0" bIns="0" rtlCol="0" anchor="ctr"/>
          <a:lstStyle/>
          <a:p>
            <a:pPr indent="0" marL="0">
              <a:buNone/>
            </a:pPr>
            <a:r>
              <a:rPr lang="en-US" sz="1050" dirty="0">
                <a:solidFill>
                  <a:srgbClr val="94A3B8"/>
                </a:solidFill>
              </a:rPr>
              <a:t>Gerçek borsa komisyon oranları ile net karlılık hesabı</a:t>
            </a:r>
            <a:endParaRPr lang="en-US" sz="1050" dirty="0"/>
          </a:p>
        </p:txBody>
      </p:sp>
      <p:sp>
        <p:nvSpPr>
          <p:cNvPr id="25" name="Shape 23"/>
          <p:cNvSpPr/>
          <p:nvPr/>
        </p:nvSpPr>
        <p:spPr>
          <a:xfrm>
            <a:off x="6300216" y="3108960"/>
            <a:ext cx="2743200" cy="1508760"/>
          </a:xfrm>
          <a:prstGeom prst="rect">
            <a:avLst/>
          </a:prstGeom>
          <a:solidFill>
            <a:srgbClr val="1A2F4A"/>
          </a:solidFill>
          <a:ln w="12700">
            <a:solidFill>
              <a:srgbClr val="1E3A5F"/>
            </a:solidFill>
            <a:prstDash val="solid"/>
          </a:ln>
        </p:spPr>
      </p:sp>
      <p:sp>
        <p:nvSpPr>
          <p:cNvPr id="26" name="Shape 24"/>
          <p:cNvSpPr/>
          <p:nvPr/>
        </p:nvSpPr>
        <p:spPr>
          <a:xfrm>
            <a:off x="6300216" y="3108960"/>
            <a:ext cx="2743200" cy="54864"/>
          </a:xfrm>
          <a:prstGeom prst="rect">
            <a:avLst/>
          </a:prstGeom>
          <a:solidFill>
            <a:srgbClr val="22D3EE"/>
          </a:solidFill>
          <a:ln w="12700">
            <a:solidFill>
              <a:srgbClr val="22D3EE"/>
            </a:solidFill>
            <a:prstDash val="solid"/>
          </a:ln>
        </p:spPr>
      </p:sp>
      <p:sp>
        <p:nvSpPr>
          <p:cNvPr id="27" name="Text 25"/>
          <p:cNvSpPr/>
          <p:nvPr/>
        </p:nvSpPr>
        <p:spPr>
          <a:xfrm>
            <a:off x="6409944" y="3218688"/>
            <a:ext cx="2523744" cy="384048"/>
          </a:xfrm>
          <a:prstGeom prst="rect">
            <a:avLst/>
          </a:prstGeom>
          <a:noFill/>
          <a:ln/>
        </p:spPr>
        <p:txBody>
          <a:bodyPr wrap="square" lIns="0" tIns="0" rIns="0" bIns="0" rtlCol="0" anchor="ctr"/>
          <a:lstStyle/>
          <a:p>
            <a:pPr indent="0" marL="0">
              <a:buNone/>
            </a:pPr>
            <a:r>
              <a:rPr lang="en-US" sz="1200" b="1" dirty="0">
                <a:solidFill>
                  <a:srgbClr val="F1F5F9"/>
                </a:solidFill>
              </a:rPr>
              <a:t>⏩  Hız Kontrolü</a:t>
            </a:r>
            <a:endParaRPr lang="en-US" sz="1200" dirty="0"/>
          </a:p>
        </p:txBody>
      </p:sp>
      <p:sp>
        <p:nvSpPr>
          <p:cNvPr id="28" name="Text 26"/>
          <p:cNvSpPr/>
          <p:nvPr/>
        </p:nvSpPr>
        <p:spPr>
          <a:xfrm>
            <a:off x="6409944" y="3602736"/>
            <a:ext cx="2523744" cy="822960"/>
          </a:xfrm>
          <a:prstGeom prst="rect">
            <a:avLst/>
          </a:prstGeom>
          <a:noFill/>
          <a:ln/>
        </p:spPr>
        <p:txBody>
          <a:bodyPr wrap="square" lIns="0" tIns="0" rIns="0" bIns="0" rtlCol="0" anchor="ctr"/>
          <a:lstStyle/>
          <a:p>
            <a:pPr indent="0" marL="0">
              <a:buNone/>
            </a:pPr>
            <a:r>
              <a:rPr lang="en-US" sz="1050" dirty="0">
                <a:solidFill>
                  <a:srgbClr val="94A3B8"/>
                </a:solidFill>
              </a:rPr>
              <a:t>Normal, 10x, 100x ve maksimum hız ile simülasyonu hızlandırın</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11480" y="256032"/>
            <a:ext cx="1920240" cy="292608"/>
          </a:xfrm>
          <a:prstGeom prst="roundRect">
            <a:avLst>
              <a:gd name="adj" fmla="val 18750"/>
            </a:avLst>
          </a:prstGeom>
          <a:solidFill>
            <a:srgbClr val="F7931A"/>
          </a:solidFill>
          <a:ln w="12700">
            <a:solidFill>
              <a:srgbClr val="F7931A"/>
            </a:solidFill>
            <a:prstDash val="solid"/>
          </a:ln>
        </p:spPr>
      </p:sp>
      <p:sp>
        <p:nvSpPr>
          <p:cNvPr id="3" name="Text 1"/>
          <p:cNvSpPr/>
          <p:nvPr/>
        </p:nvSpPr>
        <p:spPr>
          <a:xfrm>
            <a:off x="411480" y="256032"/>
            <a:ext cx="1920240" cy="292608"/>
          </a:xfrm>
          <a:prstGeom prst="rect">
            <a:avLst/>
          </a:prstGeom>
          <a:noFill/>
          <a:ln/>
        </p:spPr>
        <p:txBody>
          <a:bodyPr wrap="square" lIns="0" tIns="0" rIns="0" bIns="0" rtlCol="0" anchor="ctr"/>
          <a:lstStyle/>
          <a:p>
            <a:pPr algn="ctr" indent="0" marL="0">
              <a:buNone/>
            </a:pPr>
            <a:r>
              <a:rPr lang="en-US" sz="850" b="1" dirty="0">
                <a:solidFill>
                  <a:srgbClr val="FFFFFF"/>
                </a:solidFill>
              </a:rPr>
              <a:t>TEMEL ÖZELLIK</a:t>
            </a:r>
            <a:endParaRPr lang="en-US" sz="850" dirty="0"/>
          </a:p>
        </p:txBody>
      </p:sp>
      <p:sp>
        <p:nvSpPr>
          <p:cNvPr id="4" name="Text 2"/>
          <p:cNvSpPr/>
          <p:nvPr/>
        </p:nvSpPr>
        <p:spPr>
          <a:xfrm>
            <a:off x="411480" y="658368"/>
            <a:ext cx="8321040" cy="594360"/>
          </a:xfrm>
          <a:prstGeom prst="rect">
            <a:avLst/>
          </a:prstGeom>
          <a:noFill/>
          <a:ln/>
        </p:spPr>
        <p:txBody>
          <a:bodyPr wrap="square" lIns="0" tIns="0" rIns="0" bIns="0" rtlCol="0" anchor="ctr"/>
          <a:lstStyle/>
          <a:p>
            <a:pPr algn="l" indent="0" marL="0">
              <a:buNone/>
            </a:pPr>
            <a:r>
              <a:rPr lang="en-US" sz="2600" b="1" dirty="0">
                <a:solidFill>
                  <a:srgbClr val="1E293B"/>
                </a:solidFill>
              </a:rPr>
              <a:t>Çoklu Bot Ekosistemi</a:t>
            </a:r>
            <a:endParaRPr lang="en-US" sz="2600" dirty="0"/>
          </a:p>
        </p:txBody>
      </p:sp>
      <p:sp>
        <p:nvSpPr>
          <p:cNvPr id="5" name="Text 3"/>
          <p:cNvSpPr/>
          <p:nvPr/>
        </p:nvSpPr>
        <p:spPr>
          <a:xfrm>
            <a:off x="411480" y="1371600"/>
            <a:ext cx="4114800" cy="1097280"/>
          </a:xfrm>
          <a:prstGeom prst="rect">
            <a:avLst/>
          </a:prstGeom>
          <a:noFill/>
          <a:ln/>
        </p:spPr>
        <p:txBody>
          <a:bodyPr wrap="square" lIns="0" tIns="0" rIns="0" bIns="0" rtlCol="0" anchor="ctr"/>
          <a:lstStyle/>
          <a:p>
            <a:pPr indent="0" marL="0">
              <a:buNone/>
            </a:pPr>
            <a:r>
              <a:rPr lang="en-US" sz="1300" dirty="0">
                <a:solidFill>
                  <a:srgbClr val="1E293B"/>
                </a:solidFill>
              </a:rPr>
              <a:t>Platform, farklı strateji yaklaşımlarına sahip hazır botlarla birlikte gelir. Botlar birbirinden bağımsız çalışır, aynı anda aktif edilebilir ve gerçek zamanlı karşılaştırılabilir.</a:t>
            </a:r>
            <a:endParaRPr lang="en-US" sz="1300" dirty="0"/>
          </a:p>
        </p:txBody>
      </p:sp>
      <p:sp>
        <p:nvSpPr>
          <p:cNvPr id="6" name="Shape 4"/>
          <p:cNvSpPr/>
          <p:nvPr/>
        </p:nvSpPr>
        <p:spPr>
          <a:xfrm>
            <a:off x="4663440" y="1572768"/>
            <a:ext cx="182880" cy="182880"/>
          </a:xfrm>
          <a:prstGeom prst="ellipse">
            <a:avLst/>
          </a:prstGeom>
          <a:solidFill>
            <a:srgbClr val="F7931A"/>
          </a:solidFill>
          <a:ln w="12700">
            <a:solidFill>
              <a:srgbClr val="F7931A"/>
            </a:solidFill>
            <a:prstDash val="solid"/>
          </a:ln>
        </p:spPr>
      </p:sp>
      <p:sp>
        <p:nvSpPr>
          <p:cNvPr id="7" name="Text 5"/>
          <p:cNvSpPr/>
          <p:nvPr/>
        </p:nvSpPr>
        <p:spPr>
          <a:xfrm>
            <a:off x="4937760" y="1371600"/>
            <a:ext cx="3840480" cy="292608"/>
          </a:xfrm>
          <a:prstGeom prst="rect">
            <a:avLst/>
          </a:prstGeom>
          <a:noFill/>
          <a:ln/>
        </p:spPr>
        <p:txBody>
          <a:bodyPr wrap="square" lIns="0" tIns="0" rIns="0" bIns="0" rtlCol="0" anchor="ctr"/>
          <a:lstStyle/>
          <a:p>
            <a:pPr indent="0" marL="0">
              <a:buNone/>
            </a:pPr>
            <a:r>
              <a:rPr lang="en-US" sz="1250" b="1" dirty="0">
                <a:solidFill>
                  <a:srgbClr val="1E293B"/>
                </a:solidFill>
              </a:rPr>
              <a:t>Teknik Analiz Botları</a:t>
            </a:r>
            <a:endParaRPr lang="en-US" sz="1250" dirty="0"/>
          </a:p>
        </p:txBody>
      </p:sp>
      <p:sp>
        <p:nvSpPr>
          <p:cNvPr id="8" name="Text 6"/>
          <p:cNvSpPr/>
          <p:nvPr/>
        </p:nvSpPr>
        <p:spPr>
          <a:xfrm>
            <a:off x="4937760" y="1664208"/>
            <a:ext cx="3840480" cy="411480"/>
          </a:xfrm>
          <a:prstGeom prst="rect">
            <a:avLst/>
          </a:prstGeom>
          <a:noFill/>
          <a:ln/>
        </p:spPr>
        <p:txBody>
          <a:bodyPr wrap="square" lIns="0" tIns="0" rIns="0" bIns="0" rtlCol="0" anchor="ctr"/>
          <a:lstStyle/>
          <a:p>
            <a:pPr indent="0" marL="0">
              <a:buNone/>
            </a:pPr>
            <a:r>
              <a:rPr lang="en-US" sz="1100" dirty="0">
                <a:solidFill>
                  <a:srgbClr val="64748B"/>
                </a:solidFill>
              </a:rPr>
              <a:t>RSI, MACD, EMA gibi indikatörlere dayalı klasik stratejiler</a:t>
            </a:r>
            <a:endParaRPr lang="en-US" sz="1100" dirty="0"/>
          </a:p>
        </p:txBody>
      </p:sp>
      <p:sp>
        <p:nvSpPr>
          <p:cNvPr id="9" name="Shape 7"/>
          <p:cNvSpPr/>
          <p:nvPr/>
        </p:nvSpPr>
        <p:spPr>
          <a:xfrm>
            <a:off x="4663440" y="2414016"/>
            <a:ext cx="182880" cy="182880"/>
          </a:xfrm>
          <a:prstGeom prst="ellipse">
            <a:avLst/>
          </a:prstGeom>
          <a:solidFill>
            <a:srgbClr val="22D3EE"/>
          </a:solidFill>
          <a:ln w="12700">
            <a:solidFill>
              <a:srgbClr val="22D3EE"/>
            </a:solidFill>
            <a:prstDash val="solid"/>
          </a:ln>
        </p:spPr>
      </p:sp>
      <p:sp>
        <p:nvSpPr>
          <p:cNvPr id="10" name="Text 8"/>
          <p:cNvSpPr/>
          <p:nvPr/>
        </p:nvSpPr>
        <p:spPr>
          <a:xfrm>
            <a:off x="4937760" y="2212848"/>
            <a:ext cx="3840480" cy="292608"/>
          </a:xfrm>
          <a:prstGeom prst="rect">
            <a:avLst/>
          </a:prstGeom>
          <a:noFill/>
          <a:ln/>
        </p:spPr>
        <p:txBody>
          <a:bodyPr wrap="square" lIns="0" tIns="0" rIns="0" bIns="0" rtlCol="0" anchor="ctr"/>
          <a:lstStyle/>
          <a:p>
            <a:pPr indent="0" marL="0">
              <a:buNone/>
            </a:pPr>
            <a:r>
              <a:rPr lang="en-US" sz="1250" b="1" dirty="0">
                <a:solidFill>
                  <a:srgbClr val="1E293B"/>
                </a:solidFill>
              </a:rPr>
              <a:t>Makine Öğrenmesi Botları</a:t>
            </a:r>
            <a:endParaRPr lang="en-US" sz="1250" dirty="0"/>
          </a:p>
        </p:txBody>
      </p:sp>
      <p:sp>
        <p:nvSpPr>
          <p:cNvPr id="11" name="Text 9"/>
          <p:cNvSpPr/>
          <p:nvPr/>
        </p:nvSpPr>
        <p:spPr>
          <a:xfrm>
            <a:off x="4937760" y="2505456"/>
            <a:ext cx="3840480" cy="411480"/>
          </a:xfrm>
          <a:prstGeom prst="rect">
            <a:avLst/>
          </a:prstGeom>
          <a:noFill/>
          <a:ln/>
        </p:spPr>
        <p:txBody>
          <a:bodyPr wrap="square" lIns="0" tIns="0" rIns="0" bIns="0" rtlCol="0" anchor="ctr"/>
          <a:lstStyle/>
          <a:p>
            <a:pPr indent="0" marL="0">
              <a:buNone/>
            </a:pPr>
            <a:r>
              <a:rPr lang="en-US" sz="1100" dirty="0">
                <a:solidFill>
                  <a:srgbClr val="64748B"/>
                </a:solidFill>
              </a:rPr>
              <a:t>XGBoost ve derin öğrenme modelleri ile piyasa tahmini</a:t>
            </a:r>
            <a:endParaRPr lang="en-US" sz="1100" dirty="0"/>
          </a:p>
        </p:txBody>
      </p:sp>
      <p:sp>
        <p:nvSpPr>
          <p:cNvPr id="12" name="Shape 10"/>
          <p:cNvSpPr/>
          <p:nvPr/>
        </p:nvSpPr>
        <p:spPr>
          <a:xfrm>
            <a:off x="4663440" y="3255264"/>
            <a:ext cx="182880" cy="182880"/>
          </a:xfrm>
          <a:prstGeom prst="ellipse">
            <a:avLst/>
          </a:prstGeom>
          <a:solidFill>
            <a:srgbClr val="0D9488"/>
          </a:solidFill>
          <a:ln w="12700">
            <a:solidFill>
              <a:srgbClr val="0D9488"/>
            </a:solidFill>
            <a:prstDash val="solid"/>
          </a:ln>
        </p:spPr>
      </p:sp>
      <p:sp>
        <p:nvSpPr>
          <p:cNvPr id="13" name="Text 11"/>
          <p:cNvSpPr/>
          <p:nvPr/>
        </p:nvSpPr>
        <p:spPr>
          <a:xfrm>
            <a:off x="4937760" y="3054096"/>
            <a:ext cx="3840480" cy="292608"/>
          </a:xfrm>
          <a:prstGeom prst="rect">
            <a:avLst/>
          </a:prstGeom>
          <a:noFill/>
          <a:ln/>
        </p:spPr>
        <p:txBody>
          <a:bodyPr wrap="square" lIns="0" tIns="0" rIns="0" bIns="0" rtlCol="0" anchor="ctr"/>
          <a:lstStyle/>
          <a:p>
            <a:pPr indent="0" marL="0">
              <a:buNone/>
            </a:pPr>
            <a:r>
              <a:rPr lang="en-US" sz="1250" b="1" dirty="0">
                <a:solidFill>
                  <a:srgbClr val="1E293B"/>
                </a:solidFill>
              </a:rPr>
              <a:t>ICT Strateji Botları</a:t>
            </a:r>
            <a:endParaRPr lang="en-US" sz="1250" dirty="0"/>
          </a:p>
        </p:txBody>
      </p:sp>
      <p:sp>
        <p:nvSpPr>
          <p:cNvPr id="14" name="Text 12"/>
          <p:cNvSpPr/>
          <p:nvPr/>
        </p:nvSpPr>
        <p:spPr>
          <a:xfrm>
            <a:off x="4937760" y="3346704"/>
            <a:ext cx="3840480" cy="411480"/>
          </a:xfrm>
          <a:prstGeom prst="rect">
            <a:avLst/>
          </a:prstGeom>
          <a:noFill/>
          <a:ln/>
        </p:spPr>
        <p:txBody>
          <a:bodyPr wrap="square" lIns="0" tIns="0" rIns="0" bIns="0" rtlCol="0" anchor="ctr"/>
          <a:lstStyle/>
          <a:p>
            <a:pPr indent="0" marL="0">
              <a:buNone/>
            </a:pPr>
            <a:r>
              <a:rPr lang="en-US" sz="1100" dirty="0">
                <a:solidFill>
                  <a:srgbClr val="64748B"/>
                </a:solidFill>
              </a:rPr>
              <a:t>Kurumsal işlem teorisi temelli, profesyonel trader yaklaşımı</a:t>
            </a:r>
            <a:endParaRPr lang="en-US" sz="1100" dirty="0"/>
          </a:p>
        </p:txBody>
      </p:sp>
      <p:sp>
        <p:nvSpPr>
          <p:cNvPr id="15" name="Shape 13"/>
          <p:cNvSpPr/>
          <p:nvPr/>
        </p:nvSpPr>
        <p:spPr>
          <a:xfrm>
            <a:off x="4663440" y="4096512"/>
            <a:ext cx="182880" cy="182880"/>
          </a:xfrm>
          <a:prstGeom prst="ellipse">
            <a:avLst/>
          </a:prstGeom>
          <a:solidFill>
            <a:srgbClr val="22C55E"/>
          </a:solidFill>
          <a:ln w="12700">
            <a:solidFill>
              <a:srgbClr val="22C55E"/>
            </a:solidFill>
            <a:prstDash val="solid"/>
          </a:ln>
        </p:spPr>
      </p:sp>
      <p:sp>
        <p:nvSpPr>
          <p:cNvPr id="16" name="Text 14"/>
          <p:cNvSpPr/>
          <p:nvPr/>
        </p:nvSpPr>
        <p:spPr>
          <a:xfrm>
            <a:off x="4937760" y="3895344"/>
            <a:ext cx="3840480" cy="292608"/>
          </a:xfrm>
          <a:prstGeom prst="rect">
            <a:avLst/>
          </a:prstGeom>
          <a:noFill/>
          <a:ln/>
        </p:spPr>
        <p:txBody>
          <a:bodyPr wrap="square" lIns="0" tIns="0" rIns="0" bIns="0" rtlCol="0" anchor="ctr"/>
          <a:lstStyle/>
          <a:p>
            <a:pPr indent="0" marL="0">
              <a:buNone/>
            </a:pPr>
            <a:r>
              <a:rPr lang="en-US" sz="1250" b="1" dirty="0">
                <a:solidFill>
                  <a:srgbClr val="1E293B"/>
                </a:solidFill>
              </a:rPr>
              <a:t>Mean Reversion Botları</a:t>
            </a:r>
            <a:endParaRPr lang="en-US" sz="1250" dirty="0"/>
          </a:p>
        </p:txBody>
      </p:sp>
      <p:sp>
        <p:nvSpPr>
          <p:cNvPr id="17" name="Text 15"/>
          <p:cNvSpPr/>
          <p:nvPr/>
        </p:nvSpPr>
        <p:spPr>
          <a:xfrm>
            <a:off x="4937760" y="4187952"/>
            <a:ext cx="3840480" cy="411480"/>
          </a:xfrm>
          <a:prstGeom prst="rect">
            <a:avLst/>
          </a:prstGeom>
          <a:noFill/>
          <a:ln/>
        </p:spPr>
        <p:txBody>
          <a:bodyPr wrap="square" lIns="0" tIns="0" rIns="0" bIns="0" rtlCol="0" anchor="ctr"/>
          <a:lstStyle/>
          <a:p>
            <a:pPr indent="0" marL="0">
              <a:buNone/>
            </a:pPr>
            <a:r>
              <a:rPr lang="en-US" sz="1100" dirty="0">
                <a:solidFill>
                  <a:srgbClr val="64748B"/>
                </a:solidFill>
              </a:rPr>
              <a:t>Fiyat ortalamaya dönme prensibini kullanan stratejiler</a:t>
            </a:r>
            <a:endParaRPr lang="en-US" sz="1100" dirty="0"/>
          </a:p>
        </p:txBody>
      </p:sp>
      <p:sp>
        <p:nvSpPr>
          <p:cNvPr id="18" name="Shape 16"/>
          <p:cNvSpPr/>
          <p:nvPr/>
        </p:nvSpPr>
        <p:spPr>
          <a:xfrm>
            <a:off x="4572000" y="1371600"/>
            <a:ext cx="36576" cy="3364992"/>
          </a:xfrm>
          <a:prstGeom prst="rect">
            <a:avLst/>
          </a:prstGeom>
          <a:solidFill>
            <a:srgbClr val="E2E8F0"/>
          </a:solidFill>
          <a:ln w="12700">
            <a:solidFill>
              <a:srgbClr val="E2E8F0"/>
            </a:solidFill>
            <a:prstDash val="solid"/>
          </a:ln>
        </p:spPr>
      </p:sp>
      <p:sp>
        <p:nvSpPr>
          <p:cNvPr id="19" name="Shape 17"/>
          <p:cNvSpPr/>
          <p:nvPr/>
        </p:nvSpPr>
        <p:spPr>
          <a:xfrm>
            <a:off x="411480" y="4572000"/>
            <a:ext cx="1280160" cy="411480"/>
          </a:xfrm>
          <a:prstGeom prst="rect">
            <a:avLst/>
          </a:prstGeom>
          <a:solidFill>
            <a:srgbClr val="FFF7ED"/>
          </a:solidFill>
          <a:ln w="12700">
            <a:solidFill>
              <a:srgbClr val="FED7AA"/>
            </a:solidFill>
            <a:prstDash val="solid"/>
          </a:ln>
        </p:spPr>
      </p:sp>
      <p:sp>
        <p:nvSpPr>
          <p:cNvPr id="20" name="Text 18"/>
          <p:cNvSpPr/>
          <p:nvPr/>
        </p:nvSpPr>
        <p:spPr>
          <a:xfrm>
            <a:off x="411480" y="4572000"/>
            <a:ext cx="1280160" cy="219456"/>
          </a:xfrm>
          <a:prstGeom prst="rect">
            <a:avLst/>
          </a:prstGeom>
          <a:noFill/>
          <a:ln/>
        </p:spPr>
        <p:txBody>
          <a:bodyPr wrap="square" lIns="0" tIns="0" rIns="0" bIns="0" rtlCol="0" anchor="ctr"/>
          <a:lstStyle/>
          <a:p>
            <a:pPr algn="ctr" indent="0" marL="0">
              <a:buNone/>
            </a:pPr>
            <a:r>
              <a:rPr lang="en-US" sz="1800" b="1" dirty="0">
                <a:solidFill>
                  <a:srgbClr val="F7931A"/>
                </a:solidFill>
              </a:rPr>
              <a:t>6+</a:t>
            </a:r>
            <a:endParaRPr lang="en-US" sz="1800" dirty="0"/>
          </a:p>
        </p:txBody>
      </p:sp>
      <p:sp>
        <p:nvSpPr>
          <p:cNvPr id="21" name="Text 19"/>
          <p:cNvSpPr/>
          <p:nvPr/>
        </p:nvSpPr>
        <p:spPr>
          <a:xfrm>
            <a:off x="411480" y="4791456"/>
            <a:ext cx="1280160" cy="192024"/>
          </a:xfrm>
          <a:prstGeom prst="rect">
            <a:avLst/>
          </a:prstGeom>
          <a:noFill/>
          <a:ln/>
        </p:spPr>
        <p:txBody>
          <a:bodyPr wrap="square" lIns="0" tIns="0" rIns="0" bIns="0" rtlCol="0" anchor="ctr"/>
          <a:lstStyle/>
          <a:p>
            <a:pPr algn="ctr" indent="0" marL="0">
              <a:buNone/>
            </a:pPr>
            <a:r>
              <a:rPr lang="en-US" sz="950" dirty="0">
                <a:solidFill>
                  <a:srgbClr val="64748B"/>
                </a:solidFill>
              </a:rPr>
              <a:t>Hazır Bot</a:t>
            </a:r>
            <a:endParaRPr lang="en-US" sz="950" dirty="0"/>
          </a:p>
        </p:txBody>
      </p:sp>
      <p:sp>
        <p:nvSpPr>
          <p:cNvPr id="22" name="Shape 20"/>
          <p:cNvSpPr/>
          <p:nvPr/>
        </p:nvSpPr>
        <p:spPr>
          <a:xfrm>
            <a:off x="1828800" y="4572000"/>
            <a:ext cx="1280160" cy="411480"/>
          </a:xfrm>
          <a:prstGeom prst="rect">
            <a:avLst/>
          </a:prstGeom>
          <a:solidFill>
            <a:srgbClr val="FFF7ED"/>
          </a:solidFill>
          <a:ln w="12700">
            <a:solidFill>
              <a:srgbClr val="FED7AA"/>
            </a:solidFill>
            <a:prstDash val="solid"/>
          </a:ln>
        </p:spPr>
      </p:sp>
      <p:sp>
        <p:nvSpPr>
          <p:cNvPr id="23" name="Text 21"/>
          <p:cNvSpPr/>
          <p:nvPr/>
        </p:nvSpPr>
        <p:spPr>
          <a:xfrm>
            <a:off x="1828800" y="4572000"/>
            <a:ext cx="1280160" cy="219456"/>
          </a:xfrm>
          <a:prstGeom prst="rect">
            <a:avLst/>
          </a:prstGeom>
          <a:noFill/>
          <a:ln/>
        </p:spPr>
        <p:txBody>
          <a:bodyPr wrap="square" lIns="0" tIns="0" rIns="0" bIns="0" rtlCol="0" anchor="ctr"/>
          <a:lstStyle/>
          <a:p>
            <a:pPr algn="ctr" indent="0" marL="0">
              <a:buNone/>
            </a:pPr>
            <a:r>
              <a:rPr lang="en-US" sz="1800" b="1" dirty="0">
                <a:solidFill>
                  <a:srgbClr val="F7931A"/>
                </a:solidFill>
              </a:rPr>
              <a:t>5</a:t>
            </a:r>
            <a:endParaRPr lang="en-US" sz="1800" dirty="0"/>
          </a:p>
        </p:txBody>
      </p:sp>
      <p:sp>
        <p:nvSpPr>
          <p:cNvPr id="24" name="Text 22"/>
          <p:cNvSpPr/>
          <p:nvPr/>
        </p:nvSpPr>
        <p:spPr>
          <a:xfrm>
            <a:off x="1828800" y="4791456"/>
            <a:ext cx="1280160" cy="192024"/>
          </a:xfrm>
          <a:prstGeom prst="rect">
            <a:avLst/>
          </a:prstGeom>
          <a:noFill/>
          <a:ln/>
        </p:spPr>
        <p:txBody>
          <a:bodyPr wrap="square" lIns="0" tIns="0" rIns="0" bIns="0" rtlCol="0" anchor="ctr"/>
          <a:lstStyle/>
          <a:p>
            <a:pPr algn="ctr" indent="0" marL="0">
              <a:buNone/>
            </a:pPr>
            <a:r>
              <a:rPr lang="en-US" sz="950" dirty="0">
                <a:solidFill>
                  <a:srgbClr val="64748B"/>
                </a:solidFill>
              </a:rPr>
              <a:t>Zaman Dilimi</a:t>
            </a:r>
            <a:endParaRPr lang="en-US" sz="950" dirty="0"/>
          </a:p>
        </p:txBody>
      </p:sp>
      <p:sp>
        <p:nvSpPr>
          <p:cNvPr id="25" name="Shape 23"/>
          <p:cNvSpPr/>
          <p:nvPr/>
        </p:nvSpPr>
        <p:spPr>
          <a:xfrm>
            <a:off x="3246120" y="4572000"/>
            <a:ext cx="1280160" cy="411480"/>
          </a:xfrm>
          <a:prstGeom prst="rect">
            <a:avLst/>
          </a:prstGeom>
          <a:solidFill>
            <a:srgbClr val="FFF7ED"/>
          </a:solidFill>
          <a:ln w="12700">
            <a:solidFill>
              <a:srgbClr val="FED7AA"/>
            </a:solidFill>
            <a:prstDash val="solid"/>
          </a:ln>
        </p:spPr>
      </p:sp>
      <p:sp>
        <p:nvSpPr>
          <p:cNvPr id="26" name="Text 24"/>
          <p:cNvSpPr/>
          <p:nvPr/>
        </p:nvSpPr>
        <p:spPr>
          <a:xfrm>
            <a:off x="3246120" y="4572000"/>
            <a:ext cx="1280160" cy="219456"/>
          </a:xfrm>
          <a:prstGeom prst="rect">
            <a:avLst/>
          </a:prstGeom>
          <a:noFill/>
          <a:ln/>
        </p:spPr>
        <p:txBody>
          <a:bodyPr wrap="square" lIns="0" tIns="0" rIns="0" bIns="0" rtlCol="0" anchor="ctr"/>
          <a:lstStyle/>
          <a:p>
            <a:pPr algn="ctr" indent="0" marL="0">
              <a:buNone/>
            </a:pPr>
            <a:r>
              <a:rPr lang="en-US" sz="1800" b="1" dirty="0">
                <a:solidFill>
                  <a:srgbClr val="F7931A"/>
                </a:solidFill>
              </a:rPr>
              <a:t>∞</a:t>
            </a:r>
            <a:endParaRPr lang="en-US" sz="1800" dirty="0"/>
          </a:p>
        </p:txBody>
      </p:sp>
      <p:sp>
        <p:nvSpPr>
          <p:cNvPr id="27" name="Text 25"/>
          <p:cNvSpPr/>
          <p:nvPr/>
        </p:nvSpPr>
        <p:spPr>
          <a:xfrm>
            <a:off x="3246120" y="4791456"/>
            <a:ext cx="1280160" cy="192024"/>
          </a:xfrm>
          <a:prstGeom prst="rect">
            <a:avLst/>
          </a:prstGeom>
          <a:noFill/>
          <a:ln/>
        </p:spPr>
        <p:txBody>
          <a:bodyPr wrap="square" lIns="0" tIns="0" rIns="0" bIns="0" rtlCol="0" anchor="ctr"/>
          <a:lstStyle/>
          <a:p>
            <a:pPr algn="ctr" indent="0" marL="0">
              <a:buNone/>
            </a:pPr>
            <a:r>
              <a:rPr lang="en-US" sz="950" dirty="0">
                <a:solidFill>
                  <a:srgbClr val="64748B"/>
                </a:solidFill>
              </a:rPr>
              <a:t>AI Bot Üretimi</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11480" y="274320"/>
            <a:ext cx="1737360" cy="292608"/>
          </a:xfrm>
          <a:prstGeom prst="roundRect">
            <a:avLst>
              <a:gd name="adj" fmla="val 18750"/>
            </a:avLst>
          </a:prstGeom>
          <a:solidFill>
            <a:srgbClr val="F7931A"/>
          </a:solidFill>
          <a:ln w="12700">
            <a:solidFill>
              <a:srgbClr val="F7931A"/>
            </a:solidFill>
            <a:prstDash val="solid"/>
          </a:ln>
        </p:spPr>
      </p:sp>
      <p:sp>
        <p:nvSpPr>
          <p:cNvPr id="3" name="Text 1"/>
          <p:cNvSpPr/>
          <p:nvPr/>
        </p:nvSpPr>
        <p:spPr>
          <a:xfrm>
            <a:off x="411480" y="274320"/>
            <a:ext cx="1737360" cy="292608"/>
          </a:xfrm>
          <a:prstGeom prst="rect">
            <a:avLst/>
          </a:prstGeom>
          <a:noFill/>
          <a:ln/>
        </p:spPr>
        <p:txBody>
          <a:bodyPr wrap="square" lIns="0" tIns="0" rIns="0" bIns="0" rtlCol="0" anchor="ctr"/>
          <a:lstStyle/>
          <a:p>
            <a:pPr algn="ctr" indent="0" marL="0">
              <a:buNone/>
            </a:pPr>
            <a:r>
              <a:rPr lang="en-US" sz="850" b="1" dirty="0">
                <a:solidFill>
                  <a:srgbClr val="FFFFFF"/>
                </a:solidFill>
              </a:rPr>
              <a:t>İNOVATIF YÖN</a:t>
            </a:r>
            <a:endParaRPr lang="en-US" sz="850" dirty="0"/>
          </a:p>
        </p:txBody>
      </p:sp>
      <p:sp>
        <p:nvSpPr>
          <p:cNvPr id="4" name="Text 2"/>
          <p:cNvSpPr/>
          <p:nvPr/>
        </p:nvSpPr>
        <p:spPr>
          <a:xfrm>
            <a:off x="411480" y="685800"/>
            <a:ext cx="8321040" cy="594360"/>
          </a:xfrm>
          <a:prstGeom prst="rect">
            <a:avLst/>
          </a:prstGeom>
          <a:noFill/>
          <a:ln/>
        </p:spPr>
        <p:txBody>
          <a:bodyPr wrap="square" lIns="0" tIns="0" rIns="0" bIns="0" rtlCol="0" anchor="ctr"/>
          <a:lstStyle/>
          <a:p>
            <a:pPr algn="l" indent="0" marL="0">
              <a:buNone/>
            </a:pPr>
            <a:r>
              <a:rPr lang="en-US" sz="2800" b="1" dirty="0">
                <a:solidFill>
                  <a:srgbClr val="F1F5F9"/>
                </a:solidFill>
              </a:rPr>
              <a:t>Yapay Zeka ile Kendi Botunu Yarat</a:t>
            </a:r>
            <a:endParaRPr lang="en-US" sz="2800" dirty="0"/>
          </a:p>
        </p:txBody>
      </p:sp>
      <p:sp>
        <p:nvSpPr>
          <p:cNvPr id="5" name="Shape 3"/>
          <p:cNvSpPr/>
          <p:nvPr/>
        </p:nvSpPr>
        <p:spPr>
          <a:xfrm>
            <a:off x="411480" y="1417320"/>
            <a:ext cx="438912" cy="438912"/>
          </a:xfrm>
          <a:prstGeom prst="ellipse">
            <a:avLst/>
          </a:prstGeom>
          <a:solidFill>
            <a:srgbClr val="F7931A"/>
          </a:solidFill>
          <a:ln w="12700">
            <a:solidFill>
              <a:srgbClr val="F7931A"/>
            </a:solidFill>
            <a:prstDash val="solid"/>
          </a:ln>
        </p:spPr>
      </p:sp>
      <p:sp>
        <p:nvSpPr>
          <p:cNvPr id="6" name="Text 4"/>
          <p:cNvSpPr/>
          <p:nvPr/>
        </p:nvSpPr>
        <p:spPr>
          <a:xfrm>
            <a:off x="411480" y="141732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Shape 5"/>
          <p:cNvSpPr/>
          <p:nvPr/>
        </p:nvSpPr>
        <p:spPr>
          <a:xfrm>
            <a:off x="621792" y="1856232"/>
            <a:ext cx="36576" cy="256032"/>
          </a:xfrm>
          <a:prstGeom prst="rect">
            <a:avLst/>
          </a:prstGeom>
          <a:solidFill>
            <a:srgbClr val="2A4A6E"/>
          </a:solidFill>
          <a:ln w="12700">
            <a:solidFill>
              <a:srgbClr val="2A4A6E"/>
            </a:solidFill>
            <a:prstDash val="solid"/>
          </a:ln>
        </p:spPr>
      </p:sp>
      <p:sp>
        <p:nvSpPr>
          <p:cNvPr id="8" name="Text 6"/>
          <p:cNvSpPr/>
          <p:nvPr/>
        </p:nvSpPr>
        <p:spPr>
          <a:xfrm>
            <a:off x="1005840" y="1371600"/>
            <a:ext cx="3749040" cy="566928"/>
          </a:xfrm>
          <a:prstGeom prst="rect">
            <a:avLst/>
          </a:prstGeom>
          <a:noFill/>
          <a:ln/>
        </p:spPr>
        <p:txBody>
          <a:bodyPr wrap="square" lIns="0" tIns="0" rIns="0" bIns="0" rtlCol="0" anchor="ctr"/>
          <a:lstStyle/>
          <a:p>
            <a:pPr indent="0" marL="0">
              <a:buNone/>
            </a:pPr>
            <a:r>
              <a:rPr lang="en-US" sz="1200" dirty="0">
                <a:solidFill>
                  <a:srgbClr val="F1F5F9"/>
                </a:solidFill>
              </a:rPr>
              <a:t>Strateji fikrinizi doğal dilde yazın</a:t>
            </a:r>
            <a:endParaRPr lang="en-US" sz="1200" dirty="0"/>
          </a:p>
          <a:p>
            <a:pPr indent="0" marL="0">
              <a:buNone/>
            </a:pPr>
            <a:r>
              <a:rPr lang="en-US" sz="1200" dirty="0">
                <a:solidFill>
                  <a:srgbClr val="F1F5F9"/>
                </a:solidFill>
              </a:rPr>
              <a:t>(Türkçe veya İngilizce)</a:t>
            </a:r>
            <a:endParaRPr lang="en-US" sz="1200" dirty="0"/>
          </a:p>
        </p:txBody>
      </p:sp>
      <p:sp>
        <p:nvSpPr>
          <p:cNvPr id="9" name="Shape 7"/>
          <p:cNvSpPr/>
          <p:nvPr/>
        </p:nvSpPr>
        <p:spPr>
          <a:xfrm>
            <a:off x="411480" y="2130552"/>
            <a:ext cx="438912" cy="438912"/>
          </a:xfrm>
          <a:prstGeom prst="ellipse">
            <a:avLst/>
          </a:prstGeom>
          <a:solidFill>
            <a:srgbClr val="F7931A"/>
          </a:solidFill>
          <a:ln w="12700">
            <a:solidFill>
              <a:srgbClr val="F7931A"/>
            </a:solidFill>
            <a:prstDash val="solid"/>
          </a:ln>
        </p:spPr>
      </p:sp>
      <p:sp>
        <p:nvSpPr>
          <p:cNvPr id="10" name="Text 8"/>
          <p:cNvSpPr/>
          <p:nvPr/>
        </p:nvSpPr>
        <p:spPr>
          <a:xfrm>
            <a:off x="411480" y="2130552"/>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Shape 9"/>
          <p:cNvSpPr/>
          <p:nvPr/>
        </p:nvSpPr>
        <p:spPr>
          <a:xfrm>
            <a:off x="621792" y="2569464"/>
            <a:ext cx="36576" cy="256032"/>
          </a:xfrm>
          <a:prstGeom prst="rect">
            <a:avLst/>
          </a:prstGeom>
          <a:solidFill>
            <a:srgbClr val="2A4A6E"/>
          </a:solidFill>
          <a:ln w="12700">
            <a:solidFill>
              <a:srgbClr val="2A4A6E"/>
            </a:solidFill>
            <a:prstDash val="solid"/>
          </a:ln>
        </p:spPr>
      </p:sp>
      <p:sp>
        <p:nvSpPr>
          <p:cNvPr id="12" name="Text 10"/>
          <p:cNvSpPr/>
          <p:nvPr/>
        </p:nvSpPr>
        <p:spPr>
          <a:xfrm>
            <a:off x="1005840" y="2084832"/>
            <a:ext cx="3749040" cy="566928"/>
          </a:xfrm>
          <a:prstGeom prst="rect">
            <a:avLst/>
          </a:prstGeom>
          <a:noFill/>
          <a:ln/>
        </p:spPr>
        <p:txBody>
          <a:bodyPr wrap="square" lIns="0" tIns="0" rIns="0" bIns="0" rtlCol="0" anchor="ctr"/>
          <a:lstStyle/>
          <a:p>
            <a:pPr indent="0" marL="0">
              <a:buNone/>
            </a:pPr>
            <a:r>
              <a:rPr lang="en-US" sz="1200" dirty="0">
                <a:solidFill>
                  <a:srgbClr val="F1F5F9"/>
                </a:solidFill>
              </a:rPr>
              <a:t>Yapay zeka (yerel LLM) Python kodu</a:t>
            </a:r>
            <a:endParaRPr lang="en-US" sz="1200" dirty="0"/>
          </a:p>
          <a:p>
            <a:pPr indent="0" marL="0">
              <a:buNone/>
            </a:pPr>
            <a:r>
              <a:rPr lang="en-US" sz="1200" dirty="0">
                <a:solidFill>
                  <a:srgbClr val="F1F5F9"/>
                </a:solidFill>
              </a:rPr>
              <a:t>otomatik olarak üretir</a:t>
            </a:r>
            <a:endParaRPr lang="en-US" sz="1200" dirty="0"/>
          </a:p>
        </p:txBody>
      </p:sp>
      <p:sp>
        <p:nvSpPr>
          <p:cNvPr id="13" name="Shape 11"/>
          <p:cNvSpPr/>
          <p:nvPr/>
        </p:nvSpPr>
        <p:spPr>
          <a:xfrm>
            <a:off x="411480" y="2843784"/>
            <a:ext cx="438912" cy="438912"/>
          </a:xfrm>
          <a:prstGeom prst="ellipse">
            <a:avLst/>
          </a:prstGeom>
          <a:solidFill>
            <a:srgbClr val="F7931A"/>
          </a:solidFill>
          <a:ln w="12700">
            <a:solidFill>
              <a:srgbClr val="F7931A"/>
            </a:solidFill>
            <a:prstDash val="solid"/>
          </a:ln>
        </p:spPr>
      </p:sp>
      <p:sp>
        <p:nvSpPr>
          <p:cNvPr id="14" name="Text 12"/>
          <p:cNvSpPr/>
          <p:nvPr/>
        </p:nvSpPr>
        <p:spPr>
          <a:xfrm>
            <a:off x="411480" y="284378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5" name="Shape 13"/>
          <p:cNvSpPr/>
          <p:nvPr/>
        </p:nvSpPr>
        <p:spPr>
          <a:xfrm>
            <a:off x="621792" y="3282696"/>
            <a:ext cx="36576" cy="256032"/>
          </a:xfrm>
          <a:prstGeom prst="rect">
            <a:avLst/>
          </a:prstGeom>
          <a:solidFill>
            <a:srgbClr val="2A4A6E"/>
          </a:solidFill>
          <a:ln w="12700">
            <a:solidFill>
              <a:srgbClr val="2A4A6E"/>
            </a:solidFill>
            <a:prstDash val="solid"/>
          </a:ln>
        </p:spPr>
      </p:sp>
      <p:sp>
        <p:nvSpPr>
          <p:cNvPr id="16" name="Text 14"/>
          <p:cNvSpPr/>
          <p:nvPr/>
        </p:nvSpPr>
        <p:spPr>
          <a:xfrm>
            <a:off x="1005840" y="2798064"/>
            <a:ext cx="3749040" cy="566928"/>
          </a:xfrm>
          <a:prstGeom prst="rect">
            <a:avLst/>
          </a:prstGeom>
          <a:noFill/>
          <a:ln/>
        </p:spPr>
        <p:txBody>
          <a:bodyPr wrap="square" lIns="0" tIns="0" rIns="0" bIns="0" rtlCol="0" anchor="ctr"/>
          <a:lstStyle/>
          <a:p>
            <a:pPr indent="0" marL="0">
              <a:buNone/>
            </a:pPr>
            <a:r>
              <a:rPr lang="en-US" sz="1200" dirty="0">
                <a:solidFill>
                  <a:srgbClr val="F1F5F9"/>
                </a:solidFill>
              </a:rPr>
              <a:t>Kod güvenlik kontrolünden ve</a:t>
            </a:r>
            <a:endParaRPr lang="en-US" sz="1200" dirty="0"/>
          </a:p>
          <a:p>
            <a:pPr indent="0" marL="0">
              <a:buNone/>
            </a:pPr>
            <a:r>
              <a:rPr lang="en-US" sz="1200" dirty="0">
                <a:solidFill>
                  <a:srgbClr val="F1F5F9"/>
                </a:solidFill>
              </a:rPr>
              <a:t>sentaks doğrulamasından geçer</a:t>
            </a:r>
            <a:endParaRPr lang="en-US" sz="1200" dirty="0"/>
          </a:p>
        </p:txBody>
      </p:sp>
      <p:sp>
        <p:nvSpPr>
          <p:cNvPr id="17" name="Shape 15"/>
          <p:cNvSpPr/>
          <p:nvPr/>
        </p:nvSpPr>
        <p:spPr>
          <a:xfrm>
            <a:off x="411480" y="3557016"/>
            <a:ext cx="438912" cy="438912"/>
          </a:xfrm>
          <a:prstGeom prst="ellipse">
            <a:avLst/>
          </a:prstGeom>
          <a:solidFill>
            <a:srgbClr val="F7931A"/>
          </a:solidFill>
          <a:ln w="12700">
            <a:solidFill>
              <a:srgbClr val="F7931A"/>
            </a:solidFill>
            <a:prstDash val="solid"/>
          </a:ln>
        </p:spPr>
      </p:sp>
      <p:sp>
        <p:nvSpPr>
          <p:cNvPr id="18" name="Text 16"/>
          <p:cNvSpPr/>
          <p:nvPr/>
        </p:nvSpPr>
        <p:spPr>
          <a:xfrm>
            <a:off x="411480" y="355701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9" name="Shape 17"/>
          <p:cNvSpPr/>
          <p:nvPr/>
        </p:nvSpPr>
        <p:spPr>
          <a:xfrm>
            <a:off x="621792" y="3995928"/>
            <a:ext cx="36576" cy="256032"/>
          </a:xfrm>
          <a:prstGeom prst="rect">
            <a:avLst/>
          </a:prstGeom>
          <a:solidFill>
            <a:srgbClr val="2A4A6E"/>
          </a:solidFill>
          <a:ln w="12700">
            <a:solidFill>
              <a:srgbClr val="2A4A6E"/>
            </a:solidFill>
            <a:prstDash val="solid"/>
          </a:ln>
        </p:spPr>
      </p:sp>
      <p:sp>
        <p:nvSpPr>
          <p:cNvPr id="20" name="Text 18"/>
          <p:cNvSpPr/>
          <p:nvPr/>
        </p:nvSpPr>
        <p:spPr>
          <a:xfrm>
            <a:off x="1005840" y="3511296"/>
            <a:ext cx="3749040" cy="566928"/>
          </a:xfrm>
          <a:prstGeom prst="rect">
            <a:avLst/>
          </a:prstGeom>
          <a:noFill/>
          <a:ln/>
        </p:spPr>
        <p:txBody>
          <a:bodyPr wrap="square" lIns="0" tIns="0" rIns="0" bIns="0" rtlCol="0" anchor="ctr"/>
          <a:lstStyle/>
          <a:p>
            <a:pPr indent="0" marL="0">
              <a:buNone/>
            </a:pPr>
            <a:r>
              <a:rPr lang="en-US" sz="1200" dirty="0">
                <a:solidFill>
                  <a:srgbClr val="F1F5F9"/>
                </a:solidFill>
              </a:rPr>
              <a:t>Sandbox ortamında test edilir,</a:t>
            </a:r>
            <a:endParaRPr lang="en-US" sz="1200" dirty="0"/>
          </a:p>
          <a:p>
            <a:pPr indent="0" marL="0">
              <a:buNone/>
            </a:pPr>
            <a:r>
              <a:rPr lang="en-US" sz="1200" dirty="0">
                <a:solidFill>
                  <a:srgbClr val="F1F5F9"/>
                </a:solidFill>
              </a:rPr>
              <a:t>sonuçlar anlık raporlanır</a:t>
            </a:r>
            <a:endParaRPr lang="en-US" sz="1200" dirty="0"/>
          </a:p>
        </p:txBody>
      </p:sp>
      <p:sp>
        <p:nvSpPr>
          <p:cNvPr id="21" name="Shape 19"/>
          <p:cNvSpPr/>
          <p:nvPr/>
        </p:nvSpPr>
        <p:spPr>
          <a:xfrm>
            <a:off x="411480" y="4270248"/>
            <a:ext cx="438912" cy="438912"/>
          </a:xfrm>
          <a:prstGeom prst="ellipse">
            <a:avLst/>
          </a:prstGeom>
          <a:solidFill>
            <a:srgbClr val="F7931A"/>
          </a:solidFill>
          <a:ln w="12700">
            <a:solidFill>
              <a:srgbClr val="F7931A"/>
            </a:solidFill>
            <a:prstDash val="solid"/>
          </a:ln>
        </p:spPr>
      </p:sp>
      <p:sp>
        <p:nvSpPr>
          <p:cNvPr id="22" name="Text 20"/>
          <p:cNvSpPr/>
          <p:nvPr/>
        </p:nvSpPr>
        <p:spPr>
          <a:xfrm>
            <a:off x="411480" y="427024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3" name="Text 21"/>
          <p:cNvSpPr/>
          <p:nvPr/>
        </p:nvSpPr>
        <p:spPr>
          <a:xfrm>
            <a:off x="1005840" y="4224528"/>
            <a:ext cx="3749040" cy="566928"/>
          </a:xfrm>
          <a:prstGeom prst="rect">
            <a:avLst/>
          </a:prstGeom>
          <a:noFill/>
          <a:ln/>
        </p:spPr>
        <p:txBody>
          <a:bodyPr wrap="square" lIns="0" tIns="0" rIns="0" bIns="0" rtlCol="0" anchor="ctr"/>
          <a:lstStyle/>
          <a:p>
            <a:pPr indent="0" marL="0">
              <a:buNone/>
            </a:pPr>
            <a:r>
              <a:rPr lang="en-US" sz="1200" dirty="0">
                <a:solidFill>
                  <a:srgbClr val="F1F5F9"/>
                </a:solidFill>
              </a:rPr>
              <a:t>Onayladığınızda bot sisteme</a:t>
            </a:r>
            <a:endParaRPr lang="en-US" sz="1200" dirty="0"/>
          </a:p>
          <a:p>
            <a:pPr indent="0" marL="0">
              <a:buNone/>
            </a:pPr>
            <a:r>
              <a:rPr lang="en-US" sz="1200" dirty="0">
                <a:solidFill>
                  <a:srgbClr val="F1F5F9"/>
                </a:solidFill>
              </a:rPr>
              <a:t>eklenir ve simülasyonda çalışır</a:t>
            </a:r>
            <a:endParaRPr lang="en-US" sz="1200" dirty="0"/>
          </a:p>
        </p:txBody>
      </p:sp>
      <p:sp>
        <p:nvSpPr>
          <p:cNvPr id="24" name="Shape 22"/>
          <p:cNvSpPr/>
          <p:nvPr/>
        </p:nvSpPr>
        <p:spPr>
          <a:xfrm>
            <a:off x="5029200" y="1325880"/>
            <a:ext cx="3749040" cy="3566160"/>
          </a:xfrm>
          <a:prstGeom prst="rect">
            <a:avLst/>
          </a:prstGeom>
          <a:solidFill>
            <a:srgbClr val="0D1B2A"/>
          </a:solidFill>
          <a:ln w="12700">
            <a:solidFill>
              <a:srgbClr val="1E3A5F"/>
            </a:solidFill>
            <a:prstDash val="solid"/>
          </a:ln>
        </p:spPr>
      </p:sp>
      <p:sp>
        <p:nvSpPr>
          <p:cNvPr id="25" name="Shape 23"/>
          <p:cNvSpPr/>
          <p:nvPr/>
        </p:nvSpPr>
        <p:spPr>
          <a:xfrm>
            <a:off x="5029200" y="1325880"/>
            <a:ext cx="3749040" cy="384048"/>
          </a:xfrm>
          <a:prstGeom prst="rect">
            <a:avLst/>
          </a:prstGeom>
          <a:solidFill>
            <a:srgbClr val="1A2F4A"/>
          </a:solidFill>
          <a:ln w="12700">
            <a:solidFill>
              <a:srgbClr val="1E3A5F"/>
            </a:solidFill>
            <a:prstDash val="solid"/>
          </a:ln>
        </p:spPr>
      </p:sp>
      <p:sp>
        <p:nvSpPr>
          <p:cNvPr id="26" name="Text 24"/>
          <p:cNvSpPr/>
          <p:nvPr/>
        </p:nvSpPr>
        <p:spPr>
          <a:xfrm>
            <a:off x="5120640" y="1325880"/>
            <a:ext cx="3566160" cy="384048"/>
          </a:xfrm>
          <a:prstGeom prst="rect">
            <a:avLst/>
          </a:prstGeom>
          <a:noFill/>
          <a:ln/>
        </p:spPr>
        <p:txBody>
          <a:bodyPr wrap="square" lIns="0" tIns="0" rIns="0" bIns="0" rtlCol="0" anchor="ctr"/>
          <a:lstStyle/>
          <a:p>
            <a:pPr indent="0" marL="0">
              <a:buNone/>
            </a:pPr>
            <a:r>
              <a:rPr lang="en-US" sz="1100" b="1" dirty="0">
                <a:solidFill>
                  <a:srgbClr val="22D3EE"/>
                </a:solidFill>
              </a:rPr>
              <a:t>⚙  AI Bot Üretici</a:t>
            </a:r>
            <a:endParaRPr lang="en-US" sz="1100" dirty="0"/>
          </a:p>
        </p:txBody>
      </p:sp>
      <p:sp>
        <p:nvSpPr>
          <p:cNvPr id="27" name="Text 25"/>
          <p:cNvSpPr/>
          <p:nvPr/>
        </p:nvSpPr>
        <p:spPr>
          <a:xfrm>
            <a:off x="5166360" y="1801368"/>
            <a:ext cx="1097280" cy="256032"/>
          </a:xfrm>
          <a:prstGeom prst="rect">
            <a:avLst/>
          </a:prstGeom>
          <a:noFill/>
          <a:ln/>
        </p:spPr>
        <p:txBody>
          <a:bodyPr wrap="square" lIns="0" tIns="0" rIns="0" bIns="0" rtlCol="0" anchor="ctr"/>
          <a:lstStyle/>
          <a:p>
            <a:pPr indent="0" marL="0">
              <a:buNone/>
            </a:pPr>
            <a:r>
              <a:rPr lang="en-US" sz="1000" dirty="0">
                <a:solidFill>
                  <a:srgbClr val="94A3B8"/>
                </a:solidFill>
              </a:rPr>
              <a:t>Bot Adı:</a:t>
            </a:r>
            <a:endParaRPr lang="en-US" sz="1000" dirty="0"/>
          </a:p>
        </p:txBody>
      </p:sp>
      <p:sp>
        <p:nvSpPr>
          <p:cNvPr id="28" name="Shape 26"/>
          <p:cNvSpPr/>
          <p:nvPr/>
        </p:nvSpPr>
        <p:spPr>
          <a:xfrm>
            <a:off x="6217920" y="1801368"/>
            <a:ext cx="2423160" cy="256032"/>
          </a:xfrm>
          <a:prstGeom prst="rect">
            <a:avLst/>
          </a:prstGeom>
          <a:solidFill>
            <a:srgbClr val="1A2F4A"/>
          </a:solidFill>
          <a:ln w="12700">
            <a:solidFill>
              <a:srgbClr val="2A4A6E"/>
            </a:solidFill>
            <a:prstDash val="solid"/>
          </a:ln>
        </p:spPr>
      </p:sp>
      <p:sp>
        <p:nvSpPr>
          <p:cNvPr id="29" name="Text 27"/>
          <p:cNvSpPr/>
          <p:nvPr/>
        </p:nvSpPr>
        <p:spPr>
          <a:xfrm>
            <a:off x="6263640" y="1801368"/>
            <a:ext cx="2331720" cy="256032"/>
          </a:xfrm>
          <a:prstGeom prst="rect">
            <a:avLst/>
          </a:prstGeom>
          <a:noFill/>
          <a:ln/>
        </p:spPr>
        <p:txBody>
          <a:bodyPr wrap="square" lIns="0" tIns="0" rIns="0" bIns="0" rtlCol="0" anchor="ctr"/>
          <a:lstStyle/>
          <a:p>
            <a:pPr indent="0" marL="0">
              <a:buNone/>
            </a:pPr>
            <a:r>
              <a:rPr lang="en-US" sz="1000" dirty="0">
                <a:solidFill>
                  <a:srgbClr val="22D3EE"/>
                </a:solidFill>
              </a:rPr>
              <a:t>Momentum_Bot_v1</a:t>
            </a:r>
            <a:endParaRPr lang="en-US" sz="1000" dirty="0"/>
          </a:p>
        </p:txBody>
      </p:sp>
      <p:sp>
        <p:nvSpPr>
          <p:cNvPr id="30" name="Text 28"/>
          <p:cNvSpPr/>
          <p:nvPr/>
        </p:nvSpPr>
        <p:spPr>
          <a:xfrm>
            <a:off x="5166360" y="2148840"/>
            <a:ext cx="3474720" cy="228600"/>
          </a:xfrm>
          <a:prstGeom prst="rect">
            <a:avLst/>
          </a:prstGeom>
          <a:noFill/>
          <a:ln/>
        </p:spPr>
        <p:txBody>
          <a:bodyPr wrap="square" lIns="0" tIns="0" rIns="0" bIns="0" rtlCol="0" anchor="ctr"/>
          <a:lstStyle/>
          <a:p>
            <a:pPr indent="0" marL="0">
              <a:buNone/>
            </a:pPr>
            <a:r>
              <a:rPr lang="en-US" sz="1000" dirty="0">
                <a:solidFill>
                  <a:srgbClr val="94A3B8"/>
                </a:solidFill>
              </a:rPr>
              <a:t>Strateji Açıklaması:</a:t>
            </a:r>
            <a:endParaRPr lang="en-US" sz="1000" dirty="0"/>
          </a:p>
        </p:txBody>
      </p:sp>
      <p:sp>
        <p:nvSpPr>
          <p:cNvPr id="31" name="Shape 29"/>
          <p:cNvSpPr/>
          <p:nvPr/>
        </p:nvSpPr>
        <p:spPr>
          <a:xfrm>
            <a:off x="5166360" y="2395728"/>
            <a:ext cx="3474720" cy="1325880"/>
          </a:xfrm>
          <a:prstGeom prst="rect">
            <a:avLst/>
          </a:prstGeom>
          <a:solidFill>
            <a:srgbClr val="1A2F4A"/>
          </a:solidFill>
          <a:ln w="12700">
            <a:solidFill>
              <a:srgbClr val="2A4A6E"/>
            </a:solidFill>
            <a:prstDash val="solid"/>
          </a:ln>
        </p:spPr>
      </p:sp>
      <p:sp>
        <p:nvSpPr>
          <p:cNvPr id="32" name="Text 30"/>
          <p:cNvSpPr/>
          <p:nvPr/>
        </p:nvSpPr>
        <p:spPr>
          <a:xfrm>
            <a:off x="5230368" y="2450592"/>
            <a:ext cx="3337560" cy="1216152"/>
          </a:xfrm>
          <a:prstGeom prst="rect">
            <a:avLst/>
          </a:prstGeom>
          <a:noFill/>
          <a:ln/>
        </p:spPr>
        <p:txBody>
          <a:bodyPr wrap="square" lIns="0" tIns="0" rIns="0" bIns="0" rtlCol="0" anchor="ctr"/>
          <a:lstStyle/>
          <a:p>
            <a:pPr indent="0" marL="0">
              <a:buNone/>
            </a:pPr>
            <a:r>
              <a:rPr lang="en-US" sz="1050" i="1" dirty="0">
                <a:solidFill>
                  <a:srgbClr val="F1F5F9"/>
                </a:solidFill>
              </a:rPr>
              <a:t>"RSI 14 periyot kullan. RSI 30'un altına düştüğünde long gir, 70'in üzerine çıktığında short aç. Stop-loss %2, take-profit %4 olsun."</a:t>
            </a:r>
            <a:endParaRPr lang="en-US" sz="1050" dirty="0"/>
          </a:p>
        </p:txBody>
      </p:sp>
      <p:sp>
        <p:nvSpPr>
          <p:cNvPr id="33" name="Shape 31"/>
          <p:cNvSpPr/>
          <p:nvPr/>
        </p:nvSpPr>
        <p:spPr>
          <a:xfrm>
            <a:off x="5166360" y="3794760"/>
            <a:ext cx="3474720" cy="347472"/>
          </a:xfrm>
          <a:prstGeom prst="rect">
            <a:avLst/>
          </a:prstGeom>
          <a:solidFill>
            <a:srgbClr val="F7931A"/>
          </a:solidFill>
          <a:ln w="12700">
            <a:solidFill>
              <a:srgbClr val="F7931A"/>
            </a:solidFill>
            <a:prstDash val="solid"/>
          </a:ln>
        </p:spPr>
      </p:sp>
      <p:sp>
        <p:nvSpPr>
          <p:cNvPr id="34" name="Text 32"/>
          <p:cNvSpPr/>
          <p:nvPr/>
        </p:nvSpPr>
        <p:spPr>
          <a:xfrm>
            <a:off x="5166360" y="3794760"/>
            <a:ext cx="3474720" cy="347472"/>
          </a:xfrm>
          <a:prstGeom prst="rect">
            <a:avLst/>
          </a:prstGeom>
          <a:noFill/>
          <a:ln/>
        </p:spPr>
        <p:txBody>
          <a:bodyPr wrap="square" lIns="0" tIns="0" rIns="0" bIns="0" rtlCol="0" anchor="ctr"/>
          <a:lstStyle/>
          <a:p>
            <a:pPr algn="ctr" indent="0" marL="0">
              <a:buNone/>
            </a:pPr>
            <a:r>
              <a:rPr lang="en-US" sz="1200" b="1" dirty="0">
                <a:solidFill>
                  <a:srgbClr val="FFFFFF"/>
                </a:solidFill>
              </a:rPr>
              <a:t>🤖  Bot Üret</a:t>
            </a:r>
            <a:endParaRPr lang="en-US" sz="1200" dirty="0"/>
          </a:p>
        </p:txBody>
      </p:sp>
      <p:sp>
        <p:nvSpPr>
          <p:cNvPr id="35" name="Text 33"/>
          <p:cNvSpPr/>
          <p:nvPr/>
        </p:nvSpPr>
        <p:spPr>
          <a:xfrm>
            <a:off x="5029200" y="4279392"/>
            <a:ext cx="3749040" cy="292608"/>
          </a:xfrm>
          <a:prstGeom prst="rect">
            <a:avLst/>
          </a:prstGeom>
          <a:noFill/>
          <a:ln/>
        </p:spPr>
        <p:txBody>
          <a:bodyPr wrap="square" lIns="0" tIns="0" rIns="0" bIns="0" rtlCol="0" anchor="ctr"/>
          <a:lstStyle/>
          <a:p>
            <a:pPr algn="ctr" indent="0" marL="0">
              <a:buNone/>
            </a:pPr>
            <a:r>
              <a:rPr lang="en-US" sz="1050" dirty="0">
                <a:solidFill>
                  <a:srgbClr val="22C55E"/>
                </a:solidFill>
              </a:rPr>
              <a:t>✦  Programlama bilgisi gerekmez</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11480" y="274320"/>
            <a:ext cx="1737360" cy="292608"/>
          </a:xfrm>
          <a:prstGeom prst="roundRect">
            <a:avLst>
              <a:gd name="adj" fmla="val 18750"/>
            </a:avLst>
          </a:prstGeom>
          <a:solidFill>
            <a:srgbClr val="F7931A"/>
          </a:solidFill>
          <a:ln w="12700">
            <a:solidFill>
              <a:srgbClr val="F7931A"/>
            </a:solidFill>
            <a:prstDash val="solid"/>
          </a:ln>
        </p:spPr>
      </p:sp>
      <p:sp>
        <p:nvSpPr>
          <p:cNvPr id="3" name="Text 1"/>
          <p:cNvSpPr/>
          <p:nvPr/>
        </p:nvSpPr>
        <p:spPr>
          <a:xfrm>
            <a:off x="411480" y="274320"/>
            <a:ext cx="1737360" cy="292608"/>
          </a:xfrm>
          <a:prstGeom prst="rect">
            <a:avLst/>
          </a:prstGeom>
          <a:noFill/>
          <a:ln/>
        </p:spPr>
        <p:txBody>
          <a:bodyPr wrap="square" lIns="0" tIns="0" rIns="0" bIns="0" rtlCol="0" anchor="ctr"/>
          <a:lstStyle/>
          <a:p>
            <a:pPr algn="ctr" indent="0" marL="0">
              <a:buNone/>
            </a:pPr>
            <a:r>
              <a:rPr lang="en-US" sz="850" b="1" dirty="0">
                <a:solidFill>
                  <a:srgbClr val="FFFFFF"/>
                </a:solidFill>
              </a:rPr>
              <a:t>UYGULAMA DEMOSU</a:t>
            </a:r>
            <a:endParaRPr lang="en-US" sz="850" dirty="0"/>
          </a:p>
        </p:txBody>
      </p:sp>
      <p:sp>
        <p:nvSpPr>
          <p:cNvPr id="4" name="Text 2"/>
          <p:cNvSpPr/>
          <p:nvPr/>
        </p:nvSpPr>
        <p:spPr>
          <a:xfrm>
            <a:off x="411480" y="685800"/>
            <a:ext cx="8321040" cy="594360"/>
          </a:xfrm>
          <a:prstGeom prst="rect">
            <a:avLst/>
          </a:prstGeom>
          <a:noFill/>
          <a:ln/>
        </p:spPr>
        <p:txBody>
          <a:bodyPr wrap="square" lIns="0" tIns="0" rIns="0" bIns="0" rtlCol="0" anchor="ctr"/>
          <a:lstStyle/>
          <a:p>
            <a:pPr algn="l" indent="0" marL="0">
              <a:buNone/>
            </a:pPr>
            <a:r>
              <a:rPr lang="en-US" sz="2800" b="1" dirty="0">
                <a:solidFill>
                  <a:srgbClr val="F1F5F9"/>
                </a:solidFill>
              </a:rPr>
              <a:t>Grafik &amp; İşlem Paneli</a:t>
            </a:r>
            <a:endParaRPr lang="en-US" sz="2800" dirty="0"/>
          </a:p>
        </p:txBody>
      </p:sp>
      <p:sp>
        <p:nvSpPr>
          <p:cNvPr id="5" name="Shape 3"/>
          <p:cNvSpPr/>
          <p:nvPr/>
        </p:nvSpPr>
        <p:spPr>
          <a:xfrm>
            <a:off x="411480" y="1371600"/>
            <a:ext cx="6583680" cy="3566160"/>
          </a:xfrm>
          <a:prstGeom prst="rect">
            <a:avLst/>
          </a:prstGeom>
          <a:solidFill>
            <a:srgbClr val="1A2F4A"/>
          </a:solidFill>
          <a:ln w="25400">
            <a:solidFill>
              <a:srgbClr val="2A4A6E"/>
            </a:solidFill>
            <a:prstDash val="solid"/>
          </a:ln>
        </p:spPr>
      </p:sp>
      <p:sp>
        <p:nvSpPr>
          <p:cNvPr id="6" name="Text 4"/>
          <p:cNvSpPr/>
          <p:nvPr/>
        </p:nvSpPr>
        <p:spPr>
          <a:xfrm>
            <a:off x="594360" y="2011680"/>
            <a:ext cx="6217920" cy="2286000"/>
          </a:xfrm>
          <a:prstGeom prst="rect">
            <a:avLst/>
          </a:prstGeom>
          <a:noFill/>
          <a:ln/>
        </p:spPr>
        <p:txBody>
          <a:bodyPr wrap="square" lIns="0" tIns="0" rIns="0" bIns="0" rtlCol="0" anchor="ctr"/>
          <a:lstStyle/>
          <a:p>
            <a:pPr algn="ctr" indent="0" marL="0">
              <a:buNone/>
            </a:pPr>
            <a:r>
              <a:rPr lang="en-US" sz="1300" i="1" dirty="0">
                <a:solidFill>
                  <a:srgbClr val="94A3B8"/>
                </a:solidFill>
              </a:rPr>
              <a:t>[EKRAN GÖRÜNTÜSܠ]</a:t>
            </a:r>
            <a:endParaRPr lang="en-US" sz="1300" dirty="0"/>
          </a:p>
          <a:p>
            <a:pPr algn="ctr" indent="0" marL="0">
              <a:buNone/>
            </a:pPr>
            <a:endParaRPr lang="en-US" sz="1300" dirty="0"/>
          </a:p>
          <a:p>
            <a:pPr algn="ctr" indent="0" marL="0">
              <a:buNone/>
            </a:pPr>
            <a:r>
              <a:rPr lang="en-US" sz="1300" i="1" dirty="0">
                <a:solidFill>
                  <a:srgbClr val="94A3B8"/>
                </a:solidFill>
              </a:rPr>
              <a:t>Uygulamayı başlatın → ilk sekme (Grafik &amp; İşlem)</a:t>
            </a:r>
            <a:endParaRPr lang="en-US" sz="1300" dirty="0"/>
          </a:p>
          <a:p>
            <a:pPr algn="ctr" indent="0" marL="0">
              <a:buNone/>
            </a:pPr>
            <a:r>
              <a:rPr lang="en-US" sz="1300" i="1" dirty="0">
                <a:solidFill>
                  <a:srgbClr val="94A3B8"/>
                </a:solidFill>
              </a:rPr>
              <a:t>Tarayıcıda: http://localhost:5173</a:t>
            </a:r>
            <a:endParaRPr lang="en-US" sz="1300" dirty="0"/>
          </a:p>
          <a:p>
            <a:pPr algn="ctr" indent="0" marL="0">
              <a:buNone/>
            </a:pPr>
            <a:r>
              <a:rPr lang="en-US" sz="1300" i="1" dirty="0">
                <a:solidFill>
                  <a:srgbClr val="94A3B8"/>
                </a:solidFill>
              </a:rPr>
              <a:t>F12 ekran görüntüsü alın veya CMD+SHIFT+4 (Mac)</a:t>
            </a:r>
            <a:endParaRPr lang="en-US" sz="1300" dirty="0"/>
          </a:p>
        </p:txBody>
      </p:sp>
      <p:sp>
        <p:nvSpPr>
          <p:cNvPr id="7" name="Shape 5"/>
          <p:cNvSpPr/>
          <p:nvPr/>
        </p:nvSpPr>
        <p:spPr>
          <a:xfrm>
            <a:off x="7132320" y="1417320"/>
            <a:ext cx="1783080" cy="713232"/>
          </a:xfrm>
          <a:prstGeom prst="rect">
            <a:avLst/>
          </a:prstGeom>
          <a:solidFill>
            <a:srgbClr val="1A2F4A"/>
          </a:solidFill>
          <a:ln w="12700">
            <a:solidFill>
              <a:srgbClr val="1E3A5F"/>
            </a:solidFill>
            <a:prstDash val="solid"/>
          </a:ln>
        </p:spPr>
      </p:sp>
      <p:sp>
        <p:nvSpPr>
          <p:cNvPr id="8" name="Text 6"/>
          <p:cNvSpPr/>
          <p:nvPr/>
        </p:nvSpPr>
        <p:spPr>
          <a:xfrm>
            <a:off x="7205472" y="1463040"/>
            <a:ext cx="1636776" cy="274320"/>
          </a:xfrm>
          <a:prstGeom prst="rect">
            <a:avLst/>
          </a:prstGeom>
          <a:noFill/>
          <a:ln/>
        </p:spPr>
        <p:txBody>
          <a:bodyPr wrap="square" lIns="0" tIns="0" rIns="0" bIns="0" rtlCol="0" anchor="ctr"/>
          <a:lstStyle/>
          <a:p>
            <a:pPr indent="0" marL="0">
              <a:buNone/>
            </a:pPr>
            <a:r>
              <a:rPr lang="en-US" sz="1000" b="1" dirty="0">
                <a:solidFill>
                  <a:srgbClr val="22D3EE"/>
                </a:solidFill>
              </a:rPr>
              <a:t>📈 Mum Grafik</a:t>
            </a:r>
            <a:endParaRPr lang="en-US" sz="1000" dirty="0"/>
          </a:p>
        </p:txBody>
      </p:sp>
      <p:sp>
        <p:nvSpPr>
          <p:cNvPr id="9" name="Text 7"/>
          <p:cNvSpPr/>
          <p:nvPr/>
        </p:nvSpPr>
        <p:spPr>
          <a:xfrm>
            <a:off x="7205472" y="1737360"/>
            <a:ext cx="1636776" cy="347472"/>
          </a:xfrm>
          <a:prstGeom prst="rect">
            <a:avLst/>
          </a:prstGeom>
          <a:noFill/>
          <a:ln/>
        </p:spPr>
        <p:txBody>
          <a:bodyPr wrap="square" lIns="0" tIns="0" rIns="0" bIns="0" rtlCol="0" anchor="ctr"/>
          <a:lstStyle/>
          <a:p>
            <a:pPr indent="0" marL="0">
              <a:buNone/>
            </a:pPr>
            <a:r>
              <a:rPr lang="en-US" sz="900" dirty="0">
                <a:solidFill>
                  <a:srgbClr val="94A3B8"/>
                </a:solidFill>
              </a:rPr>
              <a:t>Gerçek zamanlı Bitcoin candlestick grafiği</a:t>
            </a:r>
            <a:endParaRPr lang="en-US" sz="900" dirty="0"/>
          </a:p>
        </p:txBody>
      </p:sp>
      <p:sp>
        <p:nvSpPr>
          <p:cNvPr id="10" name="Shape 8"/>
          <p:cNvSpPr/>
          <p:nvPr/>
        </p:nvSpPr>
        <p:spPr>
          <a:xfrm>
            <a:off x="7132320" y="2240280"/>
            <a:ext cx="1783080" cy="713232"/>
          </a:xfrm>
          <a:prstGeom prst="rect">
            <a:avLst/>
          </a:prstGeom>
          <a:solidFill>
            <a:srgbClr val="1A2F4A"/>
          </a:solidFill>
          <a:ln w="12700">
            <a:solidFill>
              <a:srgbClr val="1E3A5F"/>
            </a:solidFill>
            <a:prstDash val="solid"/>
          </a:ln>
        </p:spPr>
      </p:sp>
      <p:sp>
        <p:nvSpPr>
          <p:cNvPr id="11" name="Text 9"/>
          <p:cNvSpPr/>
          <p:nvPr/>
        </p:nvSpPr>
        <p:spPr>
          <a:xfrm>
            <a:off x="7205472" y="2286000"/>
            <a:ext cx="1636776" cy="274320"/>
          </a:xfrm>
          <a:prstGeom prst="rect">
            <a:avLst/>
          </a:prstGeom>
          <a:noFill/>
          <a:ln/>
        </p:spPr>
        <p:txBody>
          <a:bodyPr wrap="square" lIns="0" tIns="0" rIns="0" bIns="0" rtlCol="0" anchor="ctr"/>
          <a:lstStyle/>
          <a:p>
            <a:pPr indent="0" marL="0">
              <a:buNone/>
            </a:pPr>
            <a:r>
              <a:rPr lang="en-US" sz="1000" b="1" dirty="0">
                <a:solidFill>
                  <a:srgbClr val="22D3EE"/>
                </a:solidFill>
              </a:rPr>
              <a:t>📊 Teknik İndikatörler</a:t>
            </a:r>
            <a:endParaRPr lang="en-US" sz="1000" dirty="0"/>
          </a:p>
        </p:txBody>
      </p:sp>
      <p:sp>
        <p:nvSpPr>
          <p:cNvPr id="12" name="Text 10"/>
          <p:cNvSpPr/>
          <p:nvPr/>
        </p:nvSpPr>
        <p:spPr>
          <a:xfrm>
            <a:off x="7205472" y="2560320"/>
            <a:ext cx="1636776" cy="347472"/>
          </a:xfrm>
          <a:prstGeom prst="rect">
            <a:avLst/>
          </a:prstGeom>
          <a:noFill/>
          <a:ln/>
        </p:spPr>
        <p:txBody>
          <a:bodyPr wrap="square" lIns="0" tIns="0" rIns="0" bIns="0" rtlCol="0" anchor="ctr"/>
          <a:lstStyle/>
          <a:p>
            <a:pPr indent="0" marL="0">
              <a:buNone/>
            </a:pPr>
            <a:r>
              <a:rPr lang="en-US" sz="900" dirty="0">
                <a:solidFill>
                  <a:srgbClr val="94A3B8"/>
                </a:solidFill>
              </a:rPr>
              <a:t>RSI, MACD, EMA20, EMA50, Hacim</a:t>
            </a:r>
            <a:endParaRPr lang="en-US" sz="900" dirty="0"/>
          </a:p>
        </p:txBody>
      </p:sp>
      <p:sp>
        <p:nvSpPr>
          <p:cNvPr id="13" name="Shape 11"/>
          <p:cNvSpPr/>
          <p:nvPr/>
        </p:nvSpPr>
        <p:spPr>
          <a:xfrm>
            <a:off x="7132320" y="3063240"/>
            <a:ext cx="1783080" cy="713232"/>
          </a:xfrm>
          <a:prstGeom prst="rect">
            <a:avLst/>
          </a:prstGeom>
          <a:solidFill>
            <a:srgbClr val="1A2F4A"/>
          </a:solidFill>
          <a:ln w="12700">
            <a:solidFill>
              <a:srgbClr val="1E3A5F"/>
            </a:solidFill>
            <a:prstDash val="solid"/>
          </a:ln>
        </p:spPr>
      </p:sp>
      <p:sp>
        <p:nvSpPr>
          <p:cNvPr id="14" name="Text 12"/>
          <p:cNvSpPr/>
          <p:nvPr/>
        </p:nvSpPr>
        <p:spPr>
          <a:xfrm>
            <a:off x="7205472" y="3108960"/>
            <a:ext cx="1636776" cy="274320"/>
          </a:xfrm>
          <a:prstGeom prst="rect">
            <a:avLst/>
          </a:prstGeom>
          <a:noFill/>
          <a:ln/>
        </p:spPr>
        <p:txBody>
          <a:bodyPr wrap="square" lIns="0" tIns="0" rIns="0" bIns="0" rtlCol="0" anchor="ctr"/>
          <a:lstStyle/>
          <a:p>
            <a:pPr indent="0" marL="0">
              <a:buNone/>
            </a:pPr>
            <a:r>
              <a:rPr lang="en-US" sz="1000" b="1" dirty="0">
                <a:solidFill>
                  <a:srgbClr val="22D3EE"/>
                </a:solidFill>
              </a:rPr>
              <a:t>💼 İşlem Paneli</a:t>
            </a:r>
            <a:endParaRPr lang="en-US" sz="1000" dirty="0"/>
          </a:p>
        </p:txBody>
      </p:sp>
      <p:sp>
        <p:nvSpPr>
          <p:cNvPr id="15" name="Text 13"/>
          <p:cNvSpPr/>
          <p:nvPr/>
        </p:nvSpPr>
        <p:spPr>
          <a:xfrm>
            <a:off x="7205472" y="3383280"/>
            <a:ext cx="1636776" cy="347472"/>
          </a:xfrm>
          <a:prstGeom prst="rect">
            <a:avLst/>
          </a:prstGeom>
          <a:noFill/>
          <a:ln/>
        </p:spPr>
        <p:txBody>
          <a:bodyPr wrap="square" lIns="0" tIns="0" rIns="0" bIns="0" rtlCol="0" anchor="ctr"/>
          <a:lstStyle/>
          <a:p>
            <a:pPr indent="0" marL="0">
              <a:buNone/>
            </a:pPr>
            <a:r>
              <a:rPr lang="en-US" sz="900" dirty="0">
                <a:solidFill>
                  <a:srgbClr val="94A3B8"/>
                </a:solidFill>
              </a:rPr>
              <a:t>Long/Short emirleri, kaldıraç ayarı, marjin girişi</a:t>
            </a:r>
            <a:endParaRPr lang="en-US" sz="900" dirty="0"/>
          </a:p>
        </p:txBody>
      </p:sp>
      <p:sp>
        <p:nvSpPr>
          <p:cNvPr id="16" name="Shape 14"/>
          <p:cNvSpPr/>
          <p:nvPr/>
        </p:nvSpPr>
        <p:spPr>
          <a:xfrm>
            <a:off x="7132320" y="3886200"/>
            <a:ext cx="1783080" cy="713232"/>
          </a:xfrm>
          <a:prstGeom prst="rect">
            <a:avLst/>
          </a:prstGeom>
          <a:solidFill>
            <a:srgbClr val="1A2F4A"/>
          </a:solidFill>
          <a:ln w="12700">
            <a:solidFill>
              <a:srgbClr val="1E3A5F"/>
            </a:solidFill>
            <a:prstDash val="solid"/>
          </a:ln>
        </p:spPr>
      </p:sp>
      <p:sp>
        <p:nvSpPr>
          <p:cNvPr id="17" name="Text 15"/>
          <p:cNvSpPr/>
          <p:nvPr/>
        </p:nvSpPr>
        <p:spPr>
          <a:xfrm>
            <a:off x="7205472" y="3931920"/>
            <a:ext cx="1636776" cy="274320"/>
          </a:xfrm>
          <a:prstGeom prst="rect">
            <a:avLst/>
          </a:prstGeom>
          <a:noFill/>
          <a:ln/>
        </p:spPr>
        <p:txBody>
          <a:bodyPr wrap="square" lIns="0" tIns="0" rIns="0" bIns="0" rtlCol="0" anchor="ctr"/>
          <a:lstStyle/>
          <a:p>
            <a:pPr indent="0" marL="0">
              <a:buNone/>
            </a:pPr>
            <a:r>
              <a:rPr lang="en-US" sz="1000" b="1" dirty="0">
                <a:solidFill>
                  <a:srgbClr val="22D3EE"/>
                </a:solidFill>
              </a:rPr>
              <a:t>📋 İşlem Geçmişi</a:t>
            </a:r>
            <a:endParaRPr lang="en-US" sz="1000" dirty="0"/>
          </a:p>
        </p:txBody>
      </p:sp>
      <p:sp>
        <p:nvSpPr>
          <p:cNvPr id="18" name="Text 16"/>
          <p:cNvSpPr/>
          <p:nvPr/>
        </p:nvSpPr>
        <p:spPr>
          <a:xfrm>
            <a:off x="7205472" y="4206240"/>
            <a:ext cx="1636776" cy="347472"/>
          </a:xfrm>
          <a:prstGeom prst="rect">
            <a:avLst/>
          </a:prstGeom>
          <a:noFill/>
          <a:ln/>
        </p:spPr>
        <p:txBody>
          <a:bodyPr wrap="square" lIns="0" tIns="0" rIns="0" bIns="0" rtlCol="0" anchor="ctr"/>
          <a:lstStyle/>
          <a:p>
            <a:pPr indent="0" marL="0">
              <a:buNone/>
            </a:pPr>
            <a:r>
              <a:rPr lang="en-US" sz="900" dirty="0">
                <a:solidFill>
                  <a:srgbClr val="94A3B8"/>
                </a:solidFill>
              </a:rPr>
              <a:t>Açık/kapalı pozisyonlar, karlılık bilgisi</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11480" y="274320"/>
            <a:ext cx="1737360" cy="292608"/>
          </a:xfrm>
          <a:prstGeom prst="roundRect">
            <a:avLst>
              <a:gd name="adj" fmla="val 18750"/>
            </a:avLst>
          </a:prstGeom>
          <a:solidFill>
            <a:srgbClr val="F7931A"/>
          </a:solidFill>
          <a:ln w="12700">
            <a:solidFill>
              <a:srgbClr val="F7931A"/>
            </a:solidFill>
            <a:prstDash val="solid"/>
          </a:ln>
        </p:spPr>
      </p:sp>
      <p:sp>
        <p:nvSpPr>
          <p:cNvPr id="3" name="Text 1"/>
          <p:cNvSpPr/>
          <p:nvPr/>
        </p:nvSpPr>
        <p:spPr>
          <a:xfrm>
            <a:off x="411480" y="274320"/>
            <a:ext cx="1737360" cy="292608"/>
          </a:xfrm>
          <a:prstGeom prst="rect">
            <a:avLst/>
          </a:prstGeom>
          <a:noFill/>
          <a:ln/>
        </p:spPr>
        <p:txBody>
          <a:bodyPr wrap="square" lIns="0" tIns="0" rIns="0" bIns="0" rtlCol="0" anchor="ctr"/>
          <a:lstStyle/>
          <a:p>
            <a:pPr algn="ctr" indent="0" marL="0">
              <a:buNone/>
            </a:pPr>
            <a:r>
              <a:rPr lang="en-US" sz="850" b="1" dirty="0">
                <a:solidFill>
                  <a:srgbClr val="FFFFFF"/>
                </a:solidFill>
              </a:rPr>
              <a:t>UYGULAMA DEMOSU</a:t>
            </a:r>
            <a:endParaRPr lang="en-US" sz="850" dirty="0"/>
          </a:p>
        </p:txBody>
      </p:sp>
      <p:sp>
        <p:nvSpPr>
          <p:cNvPr id="4" name="Text 2"/>
          <p:cNvSpPr/>
          <p:nvPr/>
        </p:nvSpPr>
        <p:spPr>
          <a:xfrm>
            <a:off x="411480" y="685800"/>
            <a:ext cx="8321040" cy="594360"/>
          </a:xfrm>
          <a:prstGeom prst="rect">
            <a:avLst/>
          </a:prstGeom>
          <a:noFill/>
          <a:ln/>
        </p:spPr>
        <p:txBody>
          <a:bodyPr wrap="square" lIns="0" tIns="0" rIns="0" bIns="0" rtlCol="0" anchor="ctr"/>
          <a:lstStyle/>
          <a:p>
            <a:pPr algn="l" indent="0" marL="0">
              <a:buNone/>
            </a:pPr>
            <a:r>
              <a:rPr lang="en-US" sz="2800" b="1" dirty="0">
                <a:solidFill>
                  <a:srgbClr val="F1F5F9"/>
                </a:solidFill>
              </a:rPr>
              <a:t>Bot Yönetimi &amp; İstatistikler</a:t>
            </a:r>
            <a:endParaRPr lang="en-US" sz="2800" dirty="0"/>
          </a:p>
        </p:txBody>
      </p:sp>
      <p:sp>
        <p:nvSpPr>
          <p:cNvPr id="5" name="Shape 3"/>
          <p:cNvSpPr/>
          <p:nvPr/>
        </p:nvSpPr>
        <p:spPr>
          <a:xfrm>
            <a:off x="411480" y="1371600"/>
            <a:ext cx="6583680" cy="3566160"/>
          </a:xfrm>
          <a:prstGeom prst="rect">
            <a:avLst/>
          </a:prstGeom>
          <a:solidFill>
            <a:srgbClr val="1A2F4A"/>
          </a:solidFill>
          <a:ln w="25400">
            <a:solidFill>
              <a:srgbClr val="2A4A6E"/>
            </a:solidFill>
            <a:prstDash val="solid"/>
          </a:ln>
        </p:spPr>
      </p:sp>
      <p:sp>
        <p:nvSpPr>
          <p:cNvPr id="6" name="Text 4"/>
          <p:cNvSpPr/>
          <p:nvPr/>
        </p:nvSpPr>
        <p:spPr>
          <a:xfrm>
            <a:off x="594360" y="2011680"/>
            <a:ext cx="6217920" cy="2286000"/>
          </a:xfrm>
          <a:prstGeom prst="rect">
            <a:avLst/>
          </a:prstGeom>
          <a:noFill/>
          <a:ln/>
        </p:spPr>
        <p:txBody>
          <a:bodyPr wrap="square" lIns="0" tIns="0" rIns="0" bIns="0" rtlCol="0" anchor="ctr"/>
          <a:lstStyle/>
          <a:p>
            <a:pPr algn="ctr" indent="0" marL="0">
              <a:buNone/>
            </a:pPr>
            <a:r>
              <a:rPr lang="en-US" sz="1300" i="1" dirty="0">
                <a:solidFill>
                  <a:srgbClr val="94A3B8"/>
                </a:solidFill>
              </a:rPr>
              <a:t>[EKRAN GÖRÜNTÜSܠ]</a:t>
            </a:r>
            <a:endParaRPr lang="en-US" sz="1300" dirty="0"/>
          </a:p>
          <a:p>
            <a:pPr algn="ctr" indent="0" marL="0">
              <a:buNone/>
            </a:pPr>
            <a:endParaRPr lang="en-US" sz="1300" dirty="0"/>
          </a:p>
          <a:p>
            <a:pPr algn="ctr" indent="0" marL="0">
              <a:buNone/>
            </a:pPr>
            <a:r>
              <a:rPr lang="en-US" sz="1300" i="1" dirty="0">
                <a:solidFill>
                  <a:srgbClr val="94A3B8"/>
                </a:solidFill>
              </a:rPr>
              <a:t>İkinci sekme: "Botlar &amp; İstatistikler"</a:t>
            </a:r>
            <a:endParaRPr lang="en-US" sz="1300" dirty="0"/>
          </a:p>
          <a:p>
            <a:pPr algn="ctr" indent="0" marL="0">
              <a:buNone/>
            </a:pPr>
            <a:r>
              <a:rPr lang="en-US" sz="1300" i="1" dirty="0">
                <a:solidFill>
                  <a:srgbClr val="94A3B8"/>
                </a:solidFill>
              </a:rPr>
              <a:t>Bot listesi görünür haldeyken ekran görüntüsü alın</a:t>
            </a:r>
            <a:endParaRPr lang="en-US" sz="1300" dirty="0"/>
          </a:p>
          <a:p>
            <a:pPr algn="ctr" indent="0" marL="0">
              <a:buNone/>
            </a:pPr>
            <a:r>
              <a:rPr lang="en-US" sz="1300" i="1" dirty="0">
                <a:solidFill>
                  <a:srgbClr val="94A3B8"/>
                </a:solidFill>
              </a:rPr>
              <a:t>"Yeni Bot Üret" modalını açık gösterin (opsiyonel)</a:t>
            </a:r>
            <a:endParaRPr lang="en-US" sz="1300" dirty="0"/>
          </a:p>
        </p:txBody>
      </p:sp>
      <p:sp>
        <p:nvSpPr>
          <p:cNvPr id="7" name="Shape 5"/>
          <p:cNvSpPr/>
          <p:nvPr/>
        </p:nvSpPr>
        <p:spPr>
          <a:xfrm>
            <a:off x="7132320" y="1417320"/>
            <a:ext cx="1783080" cy="713232"/>
          </a:xfrm>
          <a:prstGeom prst="rect">
            <a:avLst/>
          </a:prstGeom>
          <a:solidFill>
            <a:srgbClr val="1A2F4A"/>
          </a:solidFill>
          <a:ln w="12700">
            <a:solidFill>
              <a:srgbClr val="1E3A5F"/>
            </a:solidFill>
            <a:prstDash val="solid"/>
          </a:ln>
        </p:spPr>
      </p:sp>
      <p:sp>
        <p:nvSpPr>
          <p:cNvPr id="8" name="Text 6"/>
          <p:cNvSpPr/>
          <p:nvPr/>
        </p:nvSpPr>
        <p:spPr>
          <a:xfrm>
            <a:off x="7205472" y="1463040"/>
            <a:ext cx="1636776" cy="274320"/>
          </a:xfrm>
          <a:prstGeom prst="rect">
            <a:avLst/>
          </a:prstGeom>
          <a:noFill/>
          <a:ln/>
        </p:spPr>
        <p:txBody>
          <a:bodyPr wrap="square" lIns="0" tIns="0" rIns="0" bIns="0" rtlCol="0" anchor="ctr"/>
          <a:lstStyle/>
          <a:p>
            <a:pPr indent="0" marL="0">
              <a:buNone/>
            </a:pPr>
            <a:r>
              <a:rPr lang="en-US" sz="1000" b="1" dirty="0">
                <a:solidFill>
                  <a:srgbClr val="F7931A"/>
                </a:solidFill>
              </a:rPr>
              <a:t>🤖 Bot Listesi</a:t>
            </a:r>
            <a:endParaRPr lang="en-US" sz="1000" dirty="0"/>
          </a:p>
        </p:txBody>
      </p:sp>
      <p:sp>
        <p:nvSpPr>
          <p:cNvPr id="9" name="Text 7"/>
          <p:cNvSpPr/>
          <p:nvPr/>
        </p:nvSpPr>
        <p:spPr>
          <a:xfrm>
            <a:off x="7205472" y="1737360"/>
            <a:ext cx="1636776" cy="347472"/>
          </a:xfrm>
          <a:prstGeom prst="rect">
            <a:avLst/>
          </a:prstGeom>
          <a:noFill/>
          <a:ln/>
        </p:spPr>
        <p:txBody>
          <a:bodyPr wrap="square" lIns="0" tIns="0" rIns="0" bIns="0" rtlCol="0" anchor="ctr"/>
          <a:lstStyle/>
          <a:p>
            <a:pPr indent="0" marL="0">
              <a:buNone/>
            </a:pPr>
            <a:r>
              <a:rPr lang="en-US" sz="900" dirty="0">
                <a:solidFill>
                  <a:srgbClr val="94A3B8"/>
                </a:solidFill>
              </a:rPr>
              <a:t>Aktif/pasif botlar, tek tıkla açma/kapama</a:t>
            </a:r>
            <a:endParaRPr lang="en-US" sz="900" dirty="0"/>
          </a:p>
        </p:txBody>
      </p:sp>
      <p:sp>
        <p:nvSpPr>
          <p:cNvPr id="10" name="Shape 8"/>
          <p:cNvSpPr/>
          <p:nvPr/>
        </p:nvSpPr>
        <p:spPr>
          <a:xfrm>
            <a:off x="7132320" y="2240280"/>
            <a:ext cx="1783080" cy="713232"/>
          </a:xfrm>
          <a:prstGeom prst="rect">
            <a:avLst/>
          </a:prstGeom>
          <a:solidFill>
            <a:srgbClr val="1A2F4A"/>
          </a:solidFill>
          <a:ln w="12700">
            <a:solidFill>
              <a:srgbClr val="1E3A5F"/>
            </a:solidFill>
            <a:prstDash val="solid"/>
          </a:ln>
        </p:spPr>
      </p:sp>
      <p:sp>
        <p:nvSpPr>
          <p:cNvPr id="11" name="Text 9"/>
          <p:cNvSpPr/>
          <p:nvPr/>
        </p:nvSpPr>
        <p:spPr>
          <a:xfrm>
            <a:off x="7205472" y="2286000"/>
            <a:ext cx="1636776" cy="274320"/>
          </a:xfrm>
          <a:prstGeom prst="rect">
            <a:avLst/>
          </a:prstGeom>
          <a:noFill/>
          <a:ln/>
        </p:spPr>
        <p:txBody>
          <a:bodyPr wrap="square" lIns="0" tIns="0" rIns="0" bIns="0" rtlCol="0" anchor="ctr"/>
          <a:lstStyle/>
          <a:p>
            <a:pPr indent="0" marL="0">
              <a:buNone/>
            </a:pPr>
            <a:r>
              <a:rPr lang="en-US" sz="1000" b="1" dirty="0">
                <a:solidFill>
                  <a:srgbClr val="F7931A"/>
                </a:solidFill>
              </a:rPr>
              <a:t>✨ AI Bot Üret</a:t>
            </a:r>
            <a:endParaRPr lang="en-US" sz="1000" dirty="0"/>
          </a:p>
        </p:txBody>
      </p:sp>
      <p:sp>
        <p:nvSpPr>
          <p:cNvPr id="12" name="Text 10"/>
          <p:cNvSpPr/>
          <p:nvPr/>
        </p:nvSpPr>
        <p:spPr>
          <a:xfrm>
            <a:off x="7205472" y="2560320"/>
            <a:ext cx="1636776" cy="347472"/>
          </a:xfrm>
          <a:prstGeom prst="rect">
            <a:avLst/>
          </a:prstGeom>
          <a:noFill/>
          <a:ln/>
        </p:spPr>
        <p:txBody>
          <a:bodyPr wrap="square" lIns="0" tIns="0" rIns="0" bIns="0" rtlCol="0" anchor="ctr"/>
          <a:lstStyle/>
          <a:p>
            <a:pPr indent="0" marL="0">
              <a:buNone/>
            </a:pPr>
            <a:r>
              <a:rPr lang="en-US" sz="900" dirty="0">
                <a:solidFill>
                  <a:srgbClr val="94A3B8"/>
                </a:solidFill>
              </a:rPr>
              <a:t>Doğal dil ile yeni strateji botu oluşturma</a:t>
            </a:r>
            <a:endParaRPr lang="en-US" sz="900" dirty="0"/>
          </a:p>
        </p:txBody>
      </p:sp>
      <p:sp>
        <p:nvSpPr>
          <p:cNvPr id="13" name="Shape 11"/>
          <p:cNvSpPr/>
          <p:nvPr/>
        </p:nvSpPr>
        <p:spPr>
          <a:xfrm>
            <a:off x="7132320" y="3063240"/>
            <a:ext cx="1783080" cy="713232"/>
          </a:xfrm>
          <a:prstGeom prst="rect">
            <a:avLst/>
          </a:prstGeom>
          <a:solidFill>
            <a:srgbClr val="1A2F4A"/>
          </a:solidFill>
          <a:ln w="12700">
            <a:solidFill>
              <a:srgbClr val="1E3A5F"/>
            </a:solidFill>
            <a:prstDash val="solid"/>
          </a:ln>
        </p:spPr>
      </p:sp>
      <p:sp>
        <p:nvSpPr>
          <p:cNvPr id="14" name="Text 12"/>
          <p:cNvSpPr/>
          <p:nvPr/>
        </p:nvSpPr>
        <p:spPr>
          <a:xfrm>
            <a:off x="7205472" y="3108960"/>
            <a:ext cx="1636776" cy="274320"/>
          </a:xfrm>
          <a:prstGeom prst="rect">
            <a:avLst/>
          </a:prstGeom>
          <a:noFill/>
          <a:ln/>
        </p:spPr>
        <p:txBody>
          <a:bodyPr wrap="square" lIns="0" tIns="0" rIns="0" bIns="0" rtlCol="0" anchor="ctr"/>
          <a:lstStyle/>
          <a:p>
            <a:pPr indent="0" marL="0">
              <a:buNone/>
            </a:pPr>
            <a:r>
              <a:rPr lang="en-US" sz="1000" b="1" dirty="0">
                <a:solidFill>
                  <a:srgbClr val="F7931A"/>
                </a:solidFill>
              </a:rPr>
              <a:t>📊 Performans</a:t>
            </a:r>
            <a:endParaRPr lang="en-US" sz="1000" dirty="0"/>
          </a:p>
        </p:txBody>
      </p:sp>
      <p:sp>
        <p:nvSpPr>
          <p:cNvPr id="15" name="Text 13"/>
          <p:cNvSpPr/>
          <p:nvPr/>
        </p:nvSpPr>
        <p:spPr>
          <a:xfrm>
            <a:off x="7205472" y="3383280"/>
            <a:ext cx="1636776" cy="347472"/>
          </a:xfrm>
          <a:prstGeom prst="rect">
            <a:avLst/>
          </a:prstGeom>
          <a:noFill/>
          <a:ln/>
        </p:spPr>
        <p:txBody>
          <a:bodyPr wrap="square" lIns="0" tIns="0" rIns="0" bIns="0" rtlCol="0" anchor="ctr"/>
          <a:lstStyle/>
          <a:p>
            <a:pPr indent="0" marL="0">
              <a:buNone/>
            </a:pPr>
            <a:r>
              <a:rPr lang="en-US" sz="900" dirty="0">
                <a:solidFill>
                  <a:srgbClr val="94A3B8"/>
                </a:solidFill>
              </a:rPr>
              <a:t>Kazanma oranı, Sharpe, maks. düşüş metrikleri</a:t>
            </a:r>
            <a:endParaRPr lang="en-US" sz="900" dirty="0"/>
          </a:p>
        </p:txBody>
      </p:sp>
      <p:sp>
        <p:nvSpPr>
          <p:cNvPr id="16" name="Shape 14"/>
          <p:cNvSpPr/>
          <p:nvPr/>
        </p:nvSpPr>
        <p:spPr>
          <a:xfrm>
            <a:off x="7132320" y="3886200"/>
            <a:ext cx="1783080" cy="713232"/>
          </a:xfrm>
          <a:prstGeom prst="rect">
            <a:avLst/>
          </a:prstGeom>
          <a:solidFill>
            <a:srgbClr val="1A2F4A"/>
          </a:solidFill>
          <a:ln w="12700">
            <a:solidFill>
              <a:srgbClr val="1E3A5F"/>
            </a:solidFill>
            <a:prstDash val="solid"/>
          </a:ln>
        </p:spPr>
      </p:sp>
      <p:sp>
        <p:nvSpPr>
          <p:cNvPr id="17" name="Text 15"/>
          <p:cNvSpPr/>
          <p:nvPr/>
        </p:nvSpPr>
        <p:spPr>
          <a:xfrm>
            <a:off x="7205472" y="3931920"/>
            <a:ext cx="1636776" cy="274320"/>
          </a:xfrm>
          <a:prstGeom prst="rect">
            <a:avLst/>
          </a:prstGeom>
          <a:noFill/>
          <a:ln/>
        </p:spPr>
        <p:txBody>
          <a:bodyPr wrap="square" lIns="0" tIns="0" rIns="0" bIns="0" rtlCol="0" anchor="ctr"/>
          <a:lstStyle/>
          <a:p>
            <a:pPr indent="0" marL="0">
              <a:buNone/>
            </a:pPr>
            <a:r>
              <a:rPr lang="en-US" sz="1000" b="1" dirty="0">
                <a:solidFill>
                  <a:srgbClr val="F7931A"/>
                </a:solidFill>
              </a:rPr>
              <a:t>📋 Bot Test Raporu</a:t>
            </a:r>
            <a:endParaRPr lang="en-US" sz="1000" dirty="0"/>
          </a:p>
        </p:txBody>
      </p:sp>
      <p:sp>
        <p:nvSpPr>
          <p:cNvPr id="18" name="Text 16"/>
          <p:cNvSpPr/>
          <p:nvPr/>
        </p:nvSpPr>
        <p:spPr>
          <a:xfrm>
            <a:off x="7205472" y="4206240"/>
            <a:ext cx="1636776" cy="347472"/>
          </a:xfrm>
          <a:prstGeom prst="rect">
            <a:avLst/>
          </a:prstGeom>
          <a:noFill/>
          <a:ln/>
        </p:spPr>
        <p:txBody>
          <a:bodyPr wrap="square" lIns="0" tIns="0" rIns="0" bIns="0" rtlCol="0" anchor="ctr"/>
          <a:lstStyle/>
          <a:p>
            <a:pPr indent="0" marL="0">
              <a:buNone/>
            </a:pPr>
            <a:r>
              <a:rPr lang="en-US" sz="900" dirty="0">
                <a:solidFill>
                  <a:srgbClr val="94A3B8"/>
                </a:solidFill>
              </a:rPr>
              <a:t>AI bot'un simülasyon test sonuçları</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411480" y="256032"/>
            <a:ext cx="1920240" cy="292608"/>
          </a:xfrm>
          <a:prstGeom prst="roundRect">
            <a:avLst>
              <a:gd name="adj" fmla="val 18750"/>
            </a:avLst>
          </a:prstGeom>
          <a:solidFill>
            <a:srgbClr val="F7931A"/>
          </a:solidFill>
          <a:ln w="12700">
            <a:solidFill>
              <a:srgbClr val="F7931A"/>
            </a:solidFill>
            <a:prstDash val="solid"/>
          </a:ln>
        </p:spPr>
      </p:sp>
      <p:sp>
        <p:nvSpPr>
          <p:cNvPr id="3" name="Text 1"/>
          <p:cNvSpPr/>
          <p:nvPr/>
        </p:nvSpPr>
        <p:spPr>
          <a:xfrm>
            <a:off x="411480" y="256032"/>
            <a:ext cx="1920240" cy="292608"/>
          </a:xfrm>
          <a:prstGeom prst="rect">
            <a:avLst/>
          </a:prstGeom>
          <a:noFill/>
          <a:ln/>
        </p:spPr>
        <p:txBody>
          <a:bodyPr wrap="square" lIns="0" tIns="0" rIns="0" bIns="0" rtlCol="0" anchor="ctr"/>
          <a:lstStyle/>
          <a:p>
            <a:pPr algn="ctr" indent="0" marL="0">
              <a:buNone/>
            </a:pPr>
            <a:r>
              <a:rPr lang="en-US" sz="850" b="1" dirty="0">
                <a:solidFill>
                  <a:srgbClr val="FFFFFF"/>
                </a:solidFill>
              </a:rPr>
              <a:t>KIME HITAP EDIYOR?</a:t>
            </a:r>
            <a:endParaRPr lang="en-US" sz="850" dirty="0"/>
          </a:p>
        </p:txBody>
      </p:sp>
      <p:sp>
        <p:nvSpPr>
          <p:cNvPr id="4" name="Text 2"/>
          <p:cNvSpPr/>
          <p:nvPr/>
        </p:nvSpPr>
        <p:spPr>
          <a:xfrm>
            <a:off x="411480" y="658368"/>
            <a:ext cx="8321040" cy="594360"/>
          </a:xfrm>
          <a:prstGeom prst="rect">
            <a:avLst/>
          </a:prstGeom>
          <a:noFill/>
          <a:ln/>
        </p:spPr>
        <p:txBody>
          <a:bodyPr wrap="square" lIns="0" tIns="0" rIns="0" bIns="0" rtlCol="0" anchor="ctr"/>
          <a:lstStyle/>
          <a:p>
            <a:pPr algn="l" indent="0" marL="0">
              <a:buNone/>
            </a:pPr>
            <a:r>
              <a:rPr lang="en-US" sz="2600" b="1" dirty="0">
                <a:solidFill>
                  <a:srgbClr val="1E293B"/>
                </a:solidFill>
              </a:rPr>
              <a:t>Hedef Kitle ve Kullanım Senaryoları</a:t>
            </a:r>
            <a:endParaRPr lang="en-US" sz="2600" dirty="0"/>
          </a:p>
        </p:txBody>
      </p:sp>
      <p:sp>
        <p:nvSpPr>
          <p:cNvPr id="5" name="Shape 3"/>
          <p:cNvSpPr/>
          <p:nvPr/>
        </p:nvSpPr>
        <p:spPr>
          <a:xfrm>
            <a:off x="411480" y="1417320"/>
            <a:ext cx="2743200" cy="3383280"/>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6" name="Shape 4"/>
          <p:cNvSpPr/>
          <p:nvPr/>
        </p:nvSpPr>
        <p:spPr>
          <a:xfrm>
            <a:off x="411480" y="1417320"/>
            <a:ext cx="2743200" cy="640080"/>
          </a:xfrm>
          <a:prstGeom prst="rect">
            <a:avLst/>
          </a:prstGeom>
          <a:solidFill>
            <a:srgbClr val="F7931A"/>
          </a:solidFill>
          <a:ln w="12700">
            <a:solidFill>
              <a:srgbClr val="F7931A"/>
            </a:solidFill>
            <a:prstDash val="solid"/>
          </a:ln>
        </p:spPr>
      </p:sp>
      <p:sp>
        <p:nvSpPr>
          <p:cNvPr id="7" name="Text 5"/>
          <p:cNvSpPr/>
          <p:nvPr/>
        </p:nvSpPr>
        <p:spPr>
          <a:xfrm>
            <a:off x="411480" y="1417320"/>
            <a:ext cx="2743200" cy="64008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8" name="Text 6"/>
          <p:cNvSpPr/>
          <p:nvPr/>
        </p:nvSpPr>
        <p:spPr>
          <a:xfrm>
            <a:off x="502920" y="2148840"/>
            <a:ext cx="2560320" cy="411480"/>
          </a:xfrm>
          <a:prstGeom prst="rect">
            <a:avLst/>
          </a:prstGeom>
          <a:noFill/>
          <a:ln/>
        </p:spPr>
        <p:txBody>
          <a:bodyPr wrap="square" lIns="0" tIns="0" rIns="0" bIns="0" rtlCol="0" anchor="ctr"/>
          <a:lstStyle/>
          <a:p>
            <a:pPr algn="ctr" indent="0" marL="0">
              <a:buNone/>
            </a:pPr>
            <a:r>
              <a:rPr lang="en-US" sz="1300" b="1" dirty="0">
                <a:solidFill>
                  <a:srgbClr val="1E293B"/>
                </a:solidFill>
              </a:rPr>
              <a:t>Yeni Yatırımcılar</a:t>
            </a:r>
            <a:endParaRPr lang="en-US" sz="1300" dirty="0"/>
          </a:p>
        </p:txBody>
      </p:sp>
      <p:sp>
        <p:nvSpPr>
          <p:cNvPr id="9" name="Text 7"/>
          <p:cNvSpPr/>
          <p:nvPr/>
        </p:nvSpPr>
        <p:spPr>
          <a:xfrm>
            <a:off x="548640" y="2633472"/>
            <a:ext cx="2468880" cy="548640"/>
          </a:xfrm>
          <a:prstGeom prst="rect">
            <a:avLst/>
          </a:prstGeom>
          <a:noFill/>
          <a:ln/>
        </p:spPr>
        <p:txBody>
          <a:bodyPr wrap="square" rtlCol="0" anchor="ctr"/>
          <a:lstStyle/>
          <a:p>
            <a:pPr marL="342900" indent="-342900">
              <a:buSzPct val="100000"/>
              <a:buChar char="•"/>
            </a:pPr>
            <a:r>
              <a:rPr lang="en-US" sz="1100" dirty="0">
                <a:solidFill>
                  <a:srgbClr val="1E293B"/>
                </a:solidFill>
              </a:rPr>
              <a:t>Gerçek para riske atmadan öğrenmek</a:t>
            </a:r>
            <a:endParaRPr lang="en-US" sz="1100" dirty="0"/>
          </a:p>
        </p:txBody>
      </p:sp>
      <p:sp>
        <p:nvSpPr>
          <p:cNvPr id="10" name="Text 8"/>
          <p:cNvSpPr/>
          <p:nvPr/>
        </p:nvSpPr>
        <p:spPr>
          <a:xfrm>
            <a:off x="548640" y="3255264"/>
            <a:ext cx="2468880" cy="548640"/>
          </a:xfrm>
          <a:prstGeom prst="rect">
            <a:avLst/>
          </a:prstGeom>
          <a:noFill/>
          <a:ln/>
        </p:spPr>
        <p:txBody>
          <a:bodyPr wrap="square" rtlCol="0" anchor="ctr"/>
          <a:lstStyle/>
          <a:p>
            <a:pPr marL="342900" indent="-342900">
              <a:buSzPct val="100000"/>
              <a:buChar char="•"/>
            </a:pPr>
            <a:r>
              <a:rPr lang="en-US" sz="1100" dirty="0">
                <a:solidFill>
                  <a:srgbClr val="1E293B"/>
                </a:solidFill>
              </a:rPr>
              <a:t>Kaldıraç ve futures kavramlarını anlamak</a:t>
            </a:r>
            <a:endParaRPr lang="en-US" sz="1100" dirty="0"/>
          </a:p>
        </p:txBody>
      </p:sp>
      <p:sp>
        <p:nvSpPr>
          <p:cNvPr id="11" name="Text 9"/>
          <p:cNvSpPr/>
          <p:nvPr/>
        </p:nvSpPr>
        <p:spPr>
          <a:xfrm>
            <a:off x="548640" y="3877056"/>
            <a:ext cx="2468880" cy="548640"/>
          </a:xfrm>
          <a:prstGeom prst="rect">
            <a:avLst/>
          </a:prstGeom>
          <a:noFill/>
          <a:ln/>
        </p:spPr>
        <p:txBody>
          <a:bodyPr wrap="square" rtlCol="0" anchor="ctr"/>
          <a:lstStyle/>
          <a:p>
            <a:pPr marL="342900" indent="-342900">
              <a:buSzPct val="100000"/>
              <a:buChar char="•"/>
            </a:pPr>
            <a:r>
              <a:rPr lang="en-US" sz="1100" dirty="0">
                <a:solidFill>
                  <a:srgbClr val="1E293B"/>
                </a:solidFill>
              </a:rPr>
              <a:t>Strateji geliştirme pratiği yapmak</a:t>
            </a:r>
            <a:endParaRPr lang="en-US" sz="1100" dirty="0"/>
          </a:p>
        </p:txBody>
      </p:sp>
      <p:sp>
        <p:nvSpPr>
          <p:cNvPr id="12" name="Shape 10"/>
          <p:cNvSpPr/>
          <p:nvPr/>
        </p:nvSpPr>
        <p:spPr>
          <a:xfrm>
            <a:off x="3355848" y="1417320"/>
            <a:ext cx="2743200" cy="3383280"/>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13" name="Shape 11"/>
          <p:cNvSpPr/>
          <p:nvPr/>
        </p:nvSpPr>
        <p:spPr>
          <a:xfrm>
            <a:off x="3355848" y="1417320"/>
            <a:ext cx="2743200" cy="640080"/>
          </a:xfrm>
          <a:prstGeom prst="rect">
            <a:avLst/>
          </a:prstGeom>
          <a:solidFill>
            <a:srgbClr val="0D9488"/>
          </a:solidFill>
          <a:ln w="12700">
            <a:solidFill>
              <a:srgbClr val="0D9488"/>
            </a:solidFill>
            <a:prstDash val="solid"/>
          </a:ln>
        </p:spPr>
      </p:sp>
      <p:sp>
        <p:nvSpPr>
          <p:cNvPr id="14" name="Text 12"/>
          <p:cNvSpPr/>
          <p:nvPr/>
        </p:nvSpPr>
        <p:spPr>
          <a:xfrm>
            <a:off x="3355848" y="1417320"/>
            <a:ext cx="2743200" cy="64008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15" name="Text 13"/>
          <p:cNvSpPr/>
          <p:nvPr/>
        </p:nvSpPr>
        <p:spPr>
          <a:xfrm>
            <a:off x="3447288" y="2148840"/>
            <a:ext cx="2560320" cy="411480"/>
          </a:xfrm>
          <a:prstGeom prst="rect">
            <a:avLst/>
          </a:prstGeom>
          <a:noFill/>
          <a:ln/>
        </p:spPr>
        <p:txBody>
          <a:bodyPr wrap="square" lIns="0" tIns="0" rIns="0" bIns="0" rtlCol="0" anchor="ctr"/>
          <a:lstStyle/>
          <a:p>
            <a:pPr algn="ctr" indent="0" marL="0">
              <a:buNone/>
            </a:pPr>
            <a:r>
              <a:rPr lang="en-US" sz="1300" b="1" dirty="0">
                <a:solidFill>
                  <a:srgbClr val="1E293B"/>
                </a:solidFill>
              </a:rPr>
              <a:t>Deneyimli Traderlar</a:t>
            </a:r>
            <a:endParaRPr lang="en-US" sz="1300" dirty="0"/>
          </a:p>
        </p:txBody>
      </p:sp>
      <p:sp>
        <p:nvSpPr>
          <p:cNvPr id="16" name="Text 14"/>
          <p:cNvSpPr/>
          <p:nvPr/>
        </p:nvSpPr>
        <p:spPr>
          <a:xfrm>
            <a:off x="3493008" y="2633472"/>
            <a:ext cx="2468880" cy="548640"/>
          </a:xfrm>
          <a:prstGeom prst="rect">
            <a:avLst/>
          </a:prstGeom>
          <a:noFill/>
          <a:ln/>
        </p:spPr>
        <p:txBody>
          <a:bodyPr wrap="square" rtlCol="0" anchor="ctr"/>
          <a:lstStyle/>
          <a:p>
            <a:pPr marL="342900" indent="-342900">
              <a:buSzPct val="100000"/>
              <a:buChar char="•"/>
            </a:pPr>
            <a:r>
              <a:rPr lang="en-US" sz="1100" dirty="0">
                <a:solidFill>
                  <a:srgbClr val="1E293B"/>
                </a:solidFill>
              </a:rPr>
              <a:t>Yeni stratejileri geçmiş veriye karşı test etmek</a:t>
            </a:r>
            <a:endParaRPr lang="en-US" sz="1100" dirty="0"/>
          </a:p>
        </p:txBody>
      </p:sp>
      <p:sp>
        <p:nvSpPr>
          <p:cNvPr id="17" name="Text 15"/>
          <p:cNvSpPr/>
          <p:nvPr/>
        </p:nvSpPr>
        <p:spPr>
          <a:xfrm>
            <a:off x="3493008" y="3255264"/>
            <a:ext cx="2468880" cy="548640"/>
          </a:xfrm>
          <a:prstGeom prst="rect">
            <a:avLst/>
          </a:prstGeom>
          <a:noFill/>
          <a:ln/>
        </p:spPr>
        <p:txBody>
          <a:bodyPr wrap="square" rtlCol="0" anchor="ctr"/>
          <a:lstStyle/>
          <a:p>
            <a:pPr marL="342900" indent="-342900">
              <a:buSzPct val="100000"/>
              <a:buChar char="•"/>
            </a:pPr>
            <a:r>
              <a:rPr lang="en-US" sz="1100" dirty="0">
                <a:solidFill>
                  <a:srgbClr val="1E293B"/>
                </a:solidFill>
              </a:rPr>
              <a:t>Birden fazla botu eş zamanlı karşılaştırmak</a:t>
            </a:r>
            <a:endParaRPr lang="en-US" sz="1100" dirty="0"/>
          </a:p>
        </p:txBody>
      </p:sp>
      <p:sp>
        <p:nvSpPr>
          <p:cNvPr id="18" name="Text 16"/>
          <p:cNvSpPr/>
          <p:nvPr/>
        </p:nvSpPr>
        <p:spPr>
          <a:xfrm>
            <a:off x="3493008" y="3877056"/>
            <a:ext cx="2468880" cy="548640"/>
          </a:xfrm>
          <a:prstGeom prst="rect">
            <a:avLst/>
          </a:prstGeom>
          <a:noFill/>
          <a:ln/>
        </p:spPr>
        <p:txBody>
          <a:bodyPr wrap="square" rtlCol="0" anchor="ctr"/>
          <a:lstStyle/>
          <a:p>
            <a:pPr marL="342900" indent="-342900">
              <a:buSzPct val="100000"/>
              <a:buChar char="•"/>
            </a:pPr>
            <a:r>
              <a:rPr lang="en-US" sz="1100" dirty="0">
                <a:solidFill>
                  <a:srgbClr val="1E293B"/>
                </a:solidFill>
              </a:rPr>
              <a:t>Performans metriklerini optimize etmek</a:t>
            </a:r>
            <a:endParaRPr lang="en-US" sz="1100" dirty="0"/>
          </a:p>
        </p:txBody>
      </p:sp>
      <p:sp>
        <p:nvSpPr>
          <p:cNvPr id="19" name="Shape 17"/>
          <p:cNvSpPr/>
          <p:nvPr/>
        </p:nvSpPr>
        <p:spPr>
          <a:xfrm>
            <a:off x="6300216" y="1417320"/>
            <a:ext cx="2743200" cy="3383280"/>
          </a:xfrm>
          <a:prstGeom prst="rect">
            <a:avLst/>
          </a:prstGeom>
          <a:solidFill>
            <a:srgbClr val="FFFFFF"/>
          </a:solidFill>
          <a:ln w="12700">
            <a:solidFill>
              <a:srgbClr val="E2E8F0"/>
            </a:solidFill>
            <a:prstDash val="solid"/>
          </a:ln>
          <a:effectLst>
            <a:outerShdw sx="100000" sy="100000" kx="0" ky="0" algn="bl" rotWithShape="0" blurRad="127000" dist="38100" dir="8100000">
              <a:srgbClr val="000000">
                <a:alpha val="10000"/>
              </a:srgbClr>
            </a:outerShdw>
          </a:effectLst>
        </p:spPr>
      </p:sp>
      <p:sp>
        <p:nvSpPr>
          <p:cNvPr id="20" name="Shape 18"/>
          <p:cNvSpPr/>
          <p:nvPr/>
        </p:nvSpPr>
        <p:spPr>
          <a:xfrm>
            <a:off x="6300216" y="1417320"/>
            <a:ext cx="2743200" cy="640080"/>
          </a:xfrm>
          <a:prstGeom prst="rect">
            <a:avLst/>
          </a:prstGeom>
          <a:solidFill>
            <a:srgbClr val="22D3EE"/>
          </a:solidFill>
          <a:ln w="12700">
            <a:solidFill>
              <a:srgbClr val="22D3EE"/>
            </a:solidFill>
            <a:prstDash val="solid"/>
          </a:ln>
        </p:spPr>
      </p:sp>
      <p:sp>
        <p:nvSpPr>
          <p:cNvPr id="21" name="Text 19"/>
          <p:cNvSpPr/>
          <p:nvPr/>
        </p:nvSpPr>
        <p:spPr>
          <a:xfrm>
            <a:off x="6300216" y="1417320"/>
            <a:ext cx="2743200" cy="640080"/>
          </a:xfrm>
          <a:prstGeom prst="rect">
            <a:avLst/>
          </a:prstGeom>
          <a:noFill/>
          <a:ln/>
        </p:spPr>
        <p:txBody>
          <a:bodyPr wrap="square" lIns="0" tIns="0" rIns="0" bIns="0" rtlCol="0" anchor="ctr"/>
          <a:lstStyle/>
          <a:p>
            <a:pPr algn="ctr" indent="0" marL="0">
              <a:buNone/>
            </a:pPr>
            <a:r>
              <a:rPr lang="en-US" sz="2400" dirty="0">
                <a:solidFill>
                  <a:srgbClr val="000000"/>
                </a:solidFill>
              </a:rPr>
              <a:t>🔬</a:t>
            </a:r>
            <a:endParaRPr lang="en-US" sz="2400" dirty="0"/>
          </a:p>
        </p:txBody>
      </p:sp>
      <p:sp>
        <p:nvSpPr>
          <p:cNvPr id="22" name="Text 20"/>
          <p:cNvSpPr/>
          <p:nvPr/>
        </p:nvSpPr>
        <p:spPr>
          <a:xfrm>
            <a:off x="6391656" y="2148840"/>
            <a:ext cx="2560320" cy="411480"/>
          </a:xfrm>
          <a:prstGeom prst="rect">
            <a:avLst/>
          </a:prstGeom>
          <a:noFill/>
          <a:ln/>
        </p:spPr>
        <p:txBody>
          <a:bodyPr wrap="square" lIns="0" tIns="0" rIns="0" bIns="0" rtlCol="0" anchor="ctr"/>
          <a:lstStyle/>
          <a:p>
            <a:pPr algn="ctr" indent="0" marL="0">
              <a:buNone/>
            </a:pPr>
            <a:r>
              <a:rPr lang="en-US" sz="1300" b="1" dirty="0">
                <a:solidFill>
                  <a:srgbClr val="1E293B"/>
                </a:solidFill>
              </a:rPr>
              <a:t>Araştırmacılar &amp; Akademisyenler</a:t>
            </a:r>
            <a:endParaRPr lang="en-US" sz="1300" dirty="0"/>
          </a:p>
        </p:txBody>
      </p:sp>
      <p:sp>
        <p:nvSpPr>
          <p:cNvPr id="23" name="Text 21"/>
          <p:cNvSpPr/>
          <p:nvPr/>
        </p:nvSpPr>
        <p:spPr>
          <a:xfrm>
            <a:off x="6437376" y="2633472"/>
            <a:ext cx="2468880" cy="548640"/>
          </a:xfrm>
          <a:prstGeom prst="rect">
            <a:avLst/>
          </a:prstGeom>
          <a:noFill/>
          <a:ln/>
        </p:spPr>
        <p:txBody>
          <a:bodyPr wrap="square" rtlCol="0" anchor="ctr"/>
          <a:lstStyle/>
          <a:p>
            <a:pPr marL="342900" indent="-342900">
              <a:buSzPct val="100000"/>
              <a:buChar char="•"/>
            </a:pPr>
            <a:r>
              <a:rPr lang="en-US" sz="1100" dirty="0">
                <a:solidFill>
                  <a:srgbClr val="1E293B"/>
                </a:solidFill>
              </a:rPr>
              <a:t>Algoritmik trading stratejileri üzerine çalışma</a:t>
            </a:r>
            <a:endParaRPr lang="en-US" sz="1100" dirty="0"/>
          </a:p>
        </p:txBody>
      </p:sp>
      <p:sp>
        <p:nvSpPr>
          <p:cNvPr id="24" name="Text 22"/>
          <p:cNvSpPr/>
          <p:nvPr/>
        </p:nvSpPr>
        <p:spPr>
          <a:xfrm>
            <a:off x="6437376" y="3255264"/>
            <a:ext cx="2468880" cy="548640"/>
          </a:xfrm>
          <a:prstGeom prst="rect">
            <a:avLst/>
          </a:prstGeom>
          <a:noFill/>
          <a:ln/>
        </p:spPr>
        <p:txBody>
          <a:bodyPr wrap="square" rtlCol="0" anchor="ctr"/>
          <a:lstStyle/>
          <a:p>
            <a:pPr marL="342900" indent="-342900">
              <a:buSzPct val="100000"/>
              <a:buChar char="•"/>
            </a:pPr>
            <a:r>
              <a:rPr lang="en-US" sz="1100" dirty="0">
                <a:solidFill>
                  <a:srgbClr val="1E293B"/>
                </a:solidFill>
              </a:rPr>
              <a:t>ML modellerini piyasa verisinde test etme</a:t>
            </a:r>
            <a:endParaRPr lang="en-US" sz="1100" dirty="0"/>
          </a:p>
        </p:txBody>
      </p:sp>
      <p:sp>
        <p:nvSpPr>
          <p:cNvPr id="25" name="Text 23"/>
          <p:cNvSpPr/>
          <p:nvPr/>
        </p:nvSpPr>
        <p:spPr>
          <a:xfrm>
            <a:off x="6437376" y="3877056"/>
            <a:ext cx="2468880" cy="548640"/>
          </a:xfrm>
          <a:prstGeom prst="rect">
            <a:avLst/>
          </a:prstGeom>
          <a:noFill/>
          <a:ln/>
        </p:spPr>
        <p:txBody>
          <a:bodyPr wrap="square" rtlCol="0" anchor="ctr"/>
          <a:lstStyle/>
          <a:p>
            <a:pPr marL="342900" indent="-342900">
              <a:buSzPct val="100000"/>
              <a:buChar char="•"/>
            </a:pPr>
            <a:r>
              <a:rPr lang="en-US" sz="1100" dirty="0">
                <a:solidFill>
                  <a:srgbClr val="1E293B"/>
                </a:solidFill>
              </a:rPr>
              <a:t>Finansal simülasyon verileri üretmek</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11480" y="274320"/>
            <a:ext cx="1737360" cy="292608"/>
          </a:xfrm>
          <a:prstGeom prst="roundRect">
            <a:avLst>
              <a:gd name="adj" fmla="val 18750"/>
            </a:avLst>
          </a:prstGeom>
          <a:solidFill>
            <a:srgbClr val="F7931A"/>
          </a:solidFill>
          <a:ln w="12700">
            <a:solidFill>
              <a:srgbClr val="F7931A"/>
            </a:solidFill>
            <a:prstDash val="solid"/>
          </a:ln>
        </p:spPr>
      </p:sp>
      <p:sp>
        <p:nvSpPr>
          <p:cNvPr id="3" name="Text 1"/>
          <p:cNvSpPr/>
          <p:nvPr/>
        </p:nvSpPr>
        <p:spPr>
          <a:xfrm>
            <a:off x="411480" y="274320"/>
            <a:ext cx="1737360" cy="292608"/>
          </a:xfrm>
          <a:prstGeom prst="rect">
            <a:avLst/>
          </a:prstGeom>
          <a:noFill/>
          <a:ln/>
        </p:spPr>
        <p:txBody>
          <a:bodyPr wrap="square" lIns="0" tIns="0" rIns="0" bIns="0" rtlCol="0" anchor="ctr"/>
          <a:lstStyle/>
          <a:p>
            <a:pPr algn="ctr" indent="0" marL="0">
              <a:buNone/>
            </a:pPr>
            <a:r>
              <a:rPr lang="en-US" sz="850" b="1" dirty="0">
                <a:solidFill>
                  <a:srgbClr val="FFFFFF"/>
                </a:solidFill>
              </a:rPr>
              <a:t>İNOVASYON</a:t>
            </a:r>
            <a:endParaRPr lang="en-US" sz="850" dirty="0"/>
          </a:p>
        </p:txBody>
      </p:sp>
      <p:sp>
        <p:nvSpPr>
          <p:cNvPr id="4" name="Text 2"/>
          <p:cNvSpPr/>
          <p:nvPr/>
        </p:nvSpPr>
        <p:spPr>
          <a:xfrm>
            <a:off x="411480" y="685800"/>
            <a:ext cx="8321040" cy="594360"/>
          </a:xfrm>
          <a:prstGeom prst="rect">
            <a:avLst/>
          </a:prstGeom>
          <a:noFill/>
          <a:ln/>
        </p:spPr>
        <p:txBody>
          <a:bodyPr wrap="square" lIns="0" tIns="0" rIns="0" bIns="0" rtlCol="0" anchor="ctr"/>
          <a:lstStyle/>
          <a:p>
            <a:pPr algn="l" indent="0" marL="0">
              <a:buNone/>
            </a:pPr>
            <a:r>
              <a:rPr lang="en-US" sz="2800" b="1" dirty="0">
                <a:solidFill>
                  <a:srgbClr val="F1F5F9"/>
                </a:solidFill>
              </a:rPr>
              <a:t>Projeyi Farklı Kılan 4 Özellik</a:t>
            </a:r>
            <a:endParaRPr lang="en-US" sz="2800" dirty="0"/>
          </a:p>
        </p:txBody>
      </p:sp>
      <p:sp>
        <p:nvSpPr>
          <p:cNvPr id="5" name="Shape 3"/>
          <p:cNvSpPr/>
          <p:nvPr/>
        </p:nvSpPr>
        <p:spPr>
          <a:xfrm>
            <a:off x="411480" y="1417320"/>
            <a:ext cx="4206240" cy="1600200"/>
          </a:xfrm>
          <a:prstGeom prst="rect">
            <a:avLst/>
          </a:prstGeom>
          <a:solidFill>
            <a:srgbClr val="1A2F4A"/>
          </a:solidFill>
          <a:ln w="12700">
            <a:solidFill>
              <a:srgbClr val="1E3A5F"/>
            </a:solidFill>
            <a:prstDash val="solid"/>
          </a:ln>
        </p:spPr>
      </p:sp>
      <p:sp>
        <p:nvSpPr>
          <p:cNvPr id="6" name="Text 4"/>
          <p:cNvSpPr/>
          <p:nvPr/>
        </p:nvSpPr>
        <p:spPr>
          <a:xfrm>
            <a:off x="576072" y="1581912"/>
            <a:ext cx="640080" cy="502920"/>
          </a:xfrm>
          <a:prstGeom prst="rect">
            <a:avLst/>
          </a:prstGeom>
          <a:noFill/>
          <a:ln/>
        </p:spPr>
        <p:txBody>
          <a:bodyPr wrap="square" lIns="0" tIns="0" rIns="0" bIns="0" rtlCol="0" anchor="ctr"/>
          <a:lstStyle/>
          <a:p>
            <a:pPr indent="0" marL="0">
              <a:buNone/>
            </a:pPr>
            <a:r>
              <a:rPr lang="en-US" sz="2200" b="1" dirty="0">
                <a:solidFill>
                  <a:srgbClr val="F7931A"/>
                </a:solidFill>
              </a:rPr>
              <a:t>01</a:t>
            </a:r>
            <a:endParaRPr lang="en-US" sz="2200" dirty="0"/>
          </a:p>
        </p:txBody>
      </p:sp>
      <p:sp>
        <p:nvSpPr>
          <p:cNvPr id="7" name="Text 5"/>
          <p:cNvSpPr/>
          <p:nvPr/>
        </p:nvSpPr>
        <p:spPr>
          <a:xfrm>
            <a:off x="1234440" y="1581912"/>
            <a:ext cx="3218688" cy="384048"/>
          </a:xfrm>
          <a:prstGeom prst="rect">
            <a:avLst/>
          </a:prstGeom>
          <a:noFill/>
          <a:ln/>
        </p:spPr>
        <p:txBody>
          <a:bodyPr wrap="square" lIns="0" tIns="0" rIns="0" bIns="0" rtlCol="0" anchor="ctr"/>
          <a:lstStyle/>
          <a:p>
            <a:pPr indent="0" marL="0">
              <a:buNone/>
            </a:pPr>
            <a:r>
              <a:rPr lang="en-US" sz="1300" b="1" dirty="0">
                <a:solidFill>
                  <a:srgbClr val="F1F5F9"/>
                </a:solidFill>
              </a:rPr>
              <a:t>Yerel AI Entegrasyonu</a:t>
            </a:r>
            <a:endParaRPr lang="en-US" sz="1300" dirty="0"/>
          </a:p>
        </p:txBody>
      </p:sp>
      <p:sp>
        <p:nvSpPr>
          <p:cNvPr id="8" name="Shape 6"/>
          <p:cNvSpPr/>
          <p:nvPr/>
        </p:nvSpPr>
        <p:spPr>
          <a:xfrm>
            <a:off x="576072" y="2103120"/>
            <a:ext cx="3877056" cy="27432"/>
          </a:xfrm>
          <a:prstGeom prst="rect">
            <a:avLst/>
          </a:prstGeom>
          <a:solidFill>
            <a:srgbClr val="1E3A5F"/>
          </a:solidFill>
          <a:ln w="12700">
            <a:solidFill>
              <a:srgbClr val="1E3A5F"/>
            </a:solidFill>
            <a:prstDash val="solid"/>
          </a:ln>
        </p:spPr>
      </p:sp>
      <p:sp>
        <p:nvSpPr>
          <p:cNvPr id="9" name="Text 7"/>
          <p:cNvSpPr/>
          <p:nvPr/>
        </p:nvSpPr>
        <p:spPr>
          <a:xfrm>
            <a:off x="576072" y="2194560"/>
            <a:ext cx="3877056" cy="749808"/>
          </a:xfrm>
          <a:prstGeom prst="rect">
            <a:avLst/>
          </a:prstGeom>
          <a:noFill/>
          <a:ln/>
        </p:spPr>
        <p:txBody>
          <a:bodyPr wrap="square" lIns="0" tIns="0" rIns="0" bIns="0" rtlCol="0" anchor="ctr"/>
          <a:lstStyle/>
          <a:p>
            <a:pPr indent="0" marL="0">
              <a:buNone/>
            </a:pPr>
            <a:r>
              <a:rPr lang="en-US" sz="1100" dirty="0">
                <a:solidFill>
                  <a:srgbClr val="94A3B8"/>
                </a:solidFill>
              </a:rPr>
              <a:t>Bulut tabanlı API'a bağlı değil. Ollama ile tümüyle yerel LLM (qwen2.5, llama3) kullanılıyor. Veri gizliliği tam olarak korunuyor.</a:t>
            </a:r>
            <a:endParaRPr lang="en-US" sz="1100" dirty="0"/>
          </a:p>
        </p:txBody>
      </p:sp>
      <p:sp>
        <p:nvSpPr>
          <p:cNvPr id="10" name="Shape 8"/>
          <p:cNvSpPr/>
          <p:nvPr/>
        </p:nvSpPr>
        <p:spPr>
          <a:xfrm>
            <a:off x="4846320" y="1417320"/>
            <a:ext cx="4206240" cy="1600200"/>
          </a:xfrm>
          <a:prstGeom prst="rect">
            <a:avLst/>
          </a:prstGeom>
          <a:solidFill>
            <a:srgbClr val="1A2F4A"/>
          </a:solidFill>
          <a:ln w="12700">
            <a:solidFill>
              <a:srgbClr val="1E3A5F"/>
            </a:solidFill>
            <a:prstDash val="solid"/>
          </a:ln>
        </p:spPr>
      </p:sp>
      <p:sp>
        <p:nvSpPr>
          <p:cNvPr id="11" name="Text 9"/>
          <p:cNvSpPr/>
          <p:nvPr/>
        </p:nvSpPr>
        <p:spPr>
          <a:xfrm>
            <a:off x="5010912" y="1581912"/>
            <a:ext cx="640080" cy="502920"/>
          </a:xfrm>
          <a:prstGeom prst="rect">
            <a:avLst/>
          </a:prstGeom>
          <a:noFill/>
          <a:ln/>
        </p:spPr>
        <p:txBody>
          <a:bodyPr wrap="square" lIns="0" tIns="0" rIns="0" bIns="0" rtlCol="0" anchor="ctr"/>
          <a:lstStyle/>
          <a:p>
            <a:pPr indent="0" marL="0">
              <a:buNone/>
            </a:pPr>
            <a:r>
              <a:rPr lang="en-US" sz="2200" b="1" dirty="0">
                <a:solidFill>
                  <a:srgbClr val="F7931A"/>
                </a:solidFill>
              </a:rPr>
              <a:t>02</a:t>
            </a:r>
            <a:endParaRPr lang="en-US" sz="2200" dirty="0"/>
          </a:p>
        </p:txBody>
      </p:sp>
      <p:sp>
        <p:nvSpPr>
          <p:cNvPr id="12" name="Text 10"/>
          <p:cNvSpPr/>
          <p:nvPr/>
        </p:nvSpPr>
        <p:spPr>
          <a:xfrm>
            <a:off x="5669280" y="1581912"/>
            <a:ext cx="3218688" cy="384048"/>
          </a:xfrm>
          <a:prstGeom prst="rect">
            <a:avLst/>
          </a:prstGeom>
          <a:noFill/>
          <a:ln/>
        </p:spPr>
        <p:txBody>
          <a:bodyPr wrap="square" lIns="0" tIns="0" rIns="0" bIns="0" rtlCol="0" anchor="ctr"/>
          <a:lstStyle/>
          <a:p>
            <a:pPr indent="0" marL="0">
              <a:buNone/>
            </a:pPr>
            <a:r>
              <a:rPr lang="en-US" sz="1300" b="1" dirty="0">
                <a:solidFill>
                  <a:srgbClr val="F1F5F9"/>
                </a:solidFill>
              </a:rPr>
              <a:t>Doğal Dil → Çalışan Kod</a:t>
            </a:r>
            <a:endParaRPr lang="en-US" sz="1300" dirty="0"/>
          </a:p>
        </p:txBody>
      </p:sp>
      <p:sp>
        <p:nvSpPr>
          <p:cNvPr id="13" name="Shape 11"/>
          <p:cNvSpPr/>
          <p:nvPr/>
        </p:nvSpPr>
        <p:spPr>
          <a:xfrm>
            <a:off x="5010912" y="2103120"/>
            <a:ext cx="3877056" cy="27432"/>
          </a:xfrm>
          <a:prstGeom prst="rect">
            <a:avLst/>
          </a:prstGeom>
          <a:solidFill>
            <a:srgbClr val="1E3A5F"/>
          </a:solidFill>
          <a:ln w="12700">
            <a:solidFill>
              <a:srgbClr val="1E3A5F"/>
            </a:solidFill>
            <a:prstDash val="solid"/>
          </a:ln>
        </p:spPr>
      </p:sp>
      <p:sp>
        <p:nvSpPr>
          <p:cNvPr id="14" name="Text 12"/>
          <p:cNvSpPr/>
          <p:nvPr/>
        </p:nvSpPr>
        <p:spPr>
          <a:xfrm>
            <a:off x="5010912" y="2194560"/>
            <a:ext cx="3877056" cy="749808"/>
          </a:xfrm>
          <a:prstGeom prst="rect">
            <a:avLst/>
          </a:prstGeom>
          <a:noFill/>
          <a:ln/>
        </p:spPr>
        <p:txBody>
          <a:bodyPr wrap="square" lIns="0" tIns="0" rIns="0" bIns="0" rtlCol="0" anchor="ctr"/>
          <a:lstStyle/>
          <a:p>
            <a:pPr indent="0" marL="0">
              <a:buNone/>
            </a:pPr>
            <a:r>
              <a:rPr lang="en-US" sz="1100" dirty="0">
                <a:solidFill>
                  <a:srgbClr val="94A3B8"/>
                </a:solidFill>
              </a:rPr>
              <a:t>Kullanıcının yazdığı strateji açıklaması otomatik olarak test edilmiş, güvenli ve çalışır Python koduna dönüştürülüyor.</a:t>
            </a:r>
            <a:endParaRPr lang="en-US" sz="1100" dirty="0"/>
          </a:p>
        </p:txBody>
      </p:sp>
      <p:sp>
        <p:nvSpPr>
          <p:cNvPr id="15" name="Shape 13"/>
          <p:cNvSpPr/>
          <p:nvPr/>
        </p:nvSpPr>
        <p:spPr>
          <a:xfrm>
            <a:off x="411480" y="3200400"/>
            <a:ext cx="4206240" cy="1600200"/>
          </a:xfrm>
          <a:prstGeom prst="rect">
            <a:avLst/>
          </a:prstGeom>
          <a:solidFill>
            <a:srgbClr val="1A2F4A"/>
          </a:solidFill>
          <a:ln w="12700">
            <a:solidFill>
              <a:srgbClr val="1E3A5F"/>
            </a:solidFill>
            <a:prstDash val="solid"/>
          </a:ln>
        </p:spPr>
      </p:sp>
      <p:sp>
        <p:nvSpPr>
          <p:cNvPr id="16" name="Text 14"/>
          <p:cNvSpPr/>
          <p:nvPr/>
        </p:nvSpPr>
        <p:spPr>
          <a:xfrm>
            <a:off x="576072" y="3364992"/>
            <a:ext cx="640080" cy="502920"/>
          </a:xfrm>
          <a:prstGeom prst="rect">
            <a:avLst/>
          </a:prstGeom>
          <a:noFill/>
          <a:ln/>
        </p:spPr>
        <p:txBody>
          <a:bodyPr wrap="square" lIns="0" tIns="0" rIns="0" bIns="0" rtlCol="0" anchor="ctr"/>
          <a:lstStyle/>
          <a:p>
            <a:pPr indent="0" marL="0">
              <a:buNone/>
            </a:pPr>
            <a:r>
              <a:rPr lang="en-US" sz="2200" b="1" dirty="0">
                <a:solidFill>
                  <a:srgbClr val="F7931A"/>
                </a:solidFill>
              </a:rPr>
              <a:t>03</a:t>
            </a:r>
            <a:endParaRPr lang="en-US" sz="2200" dirty="0"/>
          </a:p>
        </p:txBody>
      </p:sp>
      <p:sp>
        <p:nvSpPr>
          <p:cNvPr id="17" name="Text 15"/>
          <p:cNvSpPr/>
          <p:nvPr/>
        </p:nvSpPr>
        <p:spPr>
          <a:xfrm>
            <a:off x="1234440" y="3364992"/>
            <a:ext cx="3218688" cy="384048"/>
          </a:xfrm>
          <a:prstGeom prst="rect">
            <a:avLst/>
          </a:prstGeom>
          <a:noFill/>
          <a:ln/>
        </p:spPr>
        <p:txBody>
          <a:bodyPr wrap="square" lIns="0" tIns="0" rIns="0" bIns="0" rtlCol="0" anchor="ctr"/>
          <a:lstStyle/>
          <a:p>
            <a:pPr indent="0" marL="0">
              <a:buNone/>
            </a:pPr>
            <a:r>
              <a:rPr lang="en-US" sz="1300" b="1" dirty="0">
                <a:solidFill>
                  <a:srgbClr val="F1F5F9"/>
                </a:solidFill>
              </a:rPr>
              <a:t>Hibrit Bot Mimarisi</a:t>
            </a:r>
            <a:endParaRPr lang="en-US" sz="1300" dirty="0"/>
          </a:p>
        </p:txBody>
      </p:sp>
      <p:sp>
        <p:nvSpPr>
          <p:cNvPr id="18" name="Shape 16"/>
          <p:cNvSpPr/>
          <p:nvPr/>
        </p:nvSpPr>
        <p:spPr>
          <a:xfrm>
            <a:off x="576072" y="3886200"/>
            <a:ext cx="3877056" cy="27432"/>
          </a:xfrm>
          <a:prstGeom prst="rect">
            <a:avLst/>
          </a:prstGeom>
          <a:solidFill>
            <a:srgbClr val="1E3A5F"/>
          </a:solidFill>
          <a:ln w="12700">
            <a:solidFill>
              <a:srgbClr val="1E3A5F"/>
            </a:solidFill>
            <a:prstDash val="solid"/>
          </a:ln>
        </p:spPr>
      </p:sp>
      <p:sp>
        <p:nvSpPr>
          <p:cNvPr id="19" name="Text 17"/>
          <p:cNvSpPr/>
          <p:nvPr/>
        </p:nvSpPr>
        <p:spPr>
          <a:xfrm>
            <a:off x="576072" y="3977640"/>
            <a:ext cx="3877056" cy="749808"/>
          </a:xfrm>
          <a:prstGeom prst="rect">
            <a:avLst/>
          </a:prstGeom>
          <a:noFill/>
          <a:ln/>
        </p:spPr>
        <p:txBody>
          <a:bodyPr wrap="square" lIns="0" tIns="0" rIns="0" bIns="0" rtlCol="0" anchor="ctr"/>
          <a:lstStyle/>
          <a:p>
            <a:pPr indent="0" marL="0">
              <a:buNone/>
            </a:pPr>
            <a:r>
              <a:rPr lang="en-US" sz="1100" dirty="0">
                <a:solidFill>
                  <a:srgbClr val="94A3B8"/>
                </a:solidFill>
              </a:rPr>
              <a:t>Kural tabanlı, makine öğrenmesi ve AI tarafından üretilen botlar aynı motor üzerinde eş zamanlı çalışıyor ve karşılaştırılıyor.</a:t>
            </a:r>
            <a:endParaRPr lang="en-US" sz="1100" dirty="0"/>
          </a:p>
        </p:txBody>
      </p:sp>
      <p:sp>
        <p:nvSpPr>
          <p:cNvPr id="20" name="Shape 18"/>
          <p:cNvSpPr/>
          <p:nvPr/>
        </p:nvSpPr>
        <p:spPr>
          <a:xfrm>
            <a:off x="4846320" y="3200400"/>
            <a:ext cx="4206240" cy="1600200"/>
          </a:xfrm>
          <a:prstGeom prst="rect">
            <a:avLst/>
          </a:prstGeom>
          <a:solidFill>
            <a:srgbClr val="1A2F4A"/>
          </a:solidFill>
          <a:ln w="12700">
            <a:solidFill>
              <a:srgbClr val="1E3A5F"/>
            </a:solidFill>
            <a:prstDash val="solid"/>
          </a:ln>
        </p:spPr>
      </p:sp>
      <p:sp>
        <p:nvSpPr>
          <p:cNvPr id="21" name="Text 19"/>
          <p:cNvSpPr/>
          <p:nvPr/>
        </p:nvSpPr>
        <p:spPr>
          <a:xfrm>
            <a:off x="5010912" y="3364992"/>
            <a:ext cx="640080" cy="502920"/>
          </a:xfrm>
          <a:prstGeom prst="rect">
            <a:avLst/>
          </a:prstGeom>
          <a:noFill/>
          <a:ln/>
        </p:spPr>
        <p:txBody>
          <a:bodyPr wrap="square" lIns="0" tIns="0" rIns="0" bIns="0" rtlCol="0" anchor="ctr"/>
          <a:lstStyle/>
          <a:p>
            <a:pPr indent="0" marL="0">
              <a:buNone/>
            </a:pPr>
            <a:r>
              <a:rPr lang="en-US" sz="2200" b="1" dirty="0">
                <a:solidFill>
                  <a:srgbClr val="F7931A"/>
                </a:solidFill>
              </a:rPr>
              <a:t>04</a:t>
            </a:r>
            <a:endParaRPr lang="en-US" sz="2200" dirty="0"/>
          </a:p>
        </p:txBody>
      </p:sp>
      <p:sp>
        <p:nvSpPr>
          <p:cNvPr id="22" name="Text 20"/>
          <p:cNvSpPr/>
          <p:nvPr/>
        </p:nvSpPr>
        <p:spPr>
          <a:xfrm>
            <a:off x="5669280" y="3364992"/>
            <a:ext cx="3218688" cy="384048"/>
          </a:xfrm>
          <a:prstGeom prst="rect">
            <a:avLst/>
          </a:prstGeom>
          <a:noFill/>
          <a:ln/>
        </p:spPr>
        <p:txBody>
          <a:bodyPr wrap="square" lIns="0" tIns="0" rIns="0" bIns="0" rtlCol="0" anchor="ctr"/>
          <a:lstStyle/>
          <a:p>
            <a:pPr indent="0" marL="0">
              <a:buNone/>
            </a:pPr>
            <a:r>
              <a:rPr lang="en-US" sz="1300" b="1" dirty="0">
                <a:solidFill>
                  <a:srgbClr val="F1F5F9"/>
                </a:solidFill>
              </a:rPr>
              <a:t>Sandbox Güvenlik Katmanı</a:t>
            </a:r>
            <a:endParaRPr lang="en-US" sz="1300" dirty="0"/>
          </a:p>
        </p:txBody>
      </p:sp>
      <p:sp>
        <p:nvSpPr>
          <p:cNvPr id="23" name="Shape 21"/>
          <p:cNvSpPr/>
          <p:nvPr/>
        </p:nvSpPr>
        <p:spPr>
          <a:xfrm>
            <a:off x="5010912" y="3886200"/>
            <a:ext cx="3877056" cy="27432"/>
          </a:xfrm>
          <a:prstGeom prst="rect">
            <a:avLst/>
          </a:prstGeom>
          <a:solidFill>
            <a:srgbClr val="1E3A5F"/>
          </a:solidFill>
          <a:ln w="12700">
            <a:solidFill>
              <a:srgbClr val="1E3A5F"/>
            </a:solidFill>
            <a:prstDash val="solid"/>
          </a:ln>
        </p:spPr>
      </p:sp>
      <p:sp>
        <p:nvSpPr>
          <p:cNvPr id="24" name="Text 22"/>
          <p:cNvSpPr/>
          <p:nvPr/>
        </p:nvSpPr>
        <p:spPr>
          <a:xfrm>
            <a:off x="5010912" y="3977640"/>
            <a:ext cx="3877056" cy="749808"/>
          </a:xfrm>
          <a:prstGeom prst="rect">
            <a:avLst/>
          </a:prstGeom>
          <a:noFill/>
          <a:ln/>
        </p:spPr>
        <p:txBody>
          <a:bodyPr wrap="square" lIns="0" tIns="0" rIns="0" bIns="0" rtlCol="0" anchor="ctr"/>
          <a:lstStyle/>
          <a:p>
            <a:pPr indent="0" marL="0">
              <a:buNone/>
            </a:pPr>
            <a:r>
              <a:rPr lang="en-US" sz="1100" dirty="0">
                <a:solidFill>
                  <a:srgbClr val="94A3B8"/>
                </a:solidFill>
              </a:rPr>
              <a:t>AI'nın ürettiği her kod, sisteme eklenmeden önce izole bir ortamda güvenlik ve sözdizimi kontrolünden geçiyor.</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F7931A"/>
          </a:solidFill>
          <a:ln w="12700">
            <a:solidFill>
              <a:srgbClr val="F7931A"/>
            </a:solidFill>
            <a:prstDash val="solid"/>
          </a:ln>
        </p:spPr>
      </p:sp>
      <p:sp>
        <p:nvSpPr>
          <p:cNvPr id="3" name="Text 1"/>
          <p:cNvSpPr/>
          <p:nvPr/>
        </p:nvSpPr>
        <p:spPr>
          <a:xfrm>
            <a:off x="457200" y="365760"/>
            <a:ext cx="8229600" cy="457200"/>
          </a:xfrm>
          <a:prstGeom prst="rect">
            <a:avLst/>
          </a:prstGeom>
          <a:noFill/>
          <a:ln/>
        </p:spPr>
        <p:txBody>
          <a:bodyPr wrap="square" lIns="0" tIns="0" rIns="0" bIns="0" rtlCol="0" anchor="ctr"/>
          <a:lstStyle/>
          <a:p>
            <a:pPr indent="0" marL="0">
              <a:buNone/>
            </a:pPr>
            <a:r>
              <a:rPr lang="en-US" sz="1300" b="1" spc="400" kern="0" dirty="0">
                <a:solidFill>
                  <a:srgbClr val="F7931A"/>
                </a:solidFill>
              </a:rPr>
              <a:t>Sonuç</a:t>
            </a:r>
            <a:endParaRPr lang="en-US" sz="1300" dirty="0"/>
          </a:p>
        </p:txBody>
      </p:sp>
      <p:sp>
        <p:nvSpPr>
          <p:cNvPr id="4" name="Text 2"/>
          <p:cNvSpPr/>
          <p:nvPr/>
        </p:nvSpPr>
        <p:spPr>
          <a:xfrm>
            <a:off x="457200" y="868680"/>
            <a:ext cx="7772400" cy="1005840"/>
          </a:xfrm>
          <a:prstGeom prst="rect">
            <a:avLst/>
          </a:prstGeom>
          <a:noFill/>
          <a:ln/>
        </p:spPr>
        <p:txBody>
          <a:bodyPr wrap="square" lIns="0" tIns="0" rIns="0" bIns="0" rtlCol="0" anchor="ctr"/>
          <a:lstStyle/>
          <a:p>
            <a:pPr indent="0" marL="0">
              <a:buNone/>
            </a:pPr>
            <a:r>
              <a:rPr lang="en-US" sz="2200" b="1" dirty="0">
                <a:solidFill>
                  <a:srgbClr val="F1F5F9"/>
                </a:solidFill>
              </a:rPr>
              <a:t>Bitcoin Futures Trading Simulator</a:t>
            </a:r>
            <a:endParaRPr lang="en-US" sz="2200" dirty="0"/>
          </a:p>
          <a:p>
            <a:pPr indent="0" marL="0">
              <a:buNone/>
            </a:pPr>
            <a:r>
              <a:rPr lang="en-US" sz="2200" b="1" dirty="0">
                <a:solidFill>
                  <a:srgbClr val="F1F5F9"/>
                </a:solidFill>
              </a:rPr>
              <a:t>bir simülasyon değil, bir öğrenme ve geliştirme platformudur.</a:t>
            </a:r>
            <a:endParaRPr lang="en-US" sz="2200" dirty="0"/>
          </a:p>
        </p:txBody>
      </p:sp>
      <p:sp>
        <p:nvSpPr>
          <p:cNvPr id="5" name="Text 3"/>
          <p:cNvSpPr/>
          <p:nvPr/>
        </p:nvSpPr>
        <p:spPr>
          <a:xfrm>
            <a:off x="457200" y="1965960"/>
            <a:ext cx="5029200" cy="384048"/>
          </a:xfrm>
          <a:prstGeom prst="rect">
            <a:avLst/>
          </a:prstGeom>
          <a:noFill/>
          <a:ln/>
        </p:spPr>
        <p:txBody>
          <a:bodyPr wrap="square" lIns="0" tIns="0" rIns="0" bIns="0" rtlCol="0" anchor="ctr"/>
          <a:lstStyle/>
          <a:p>
            <a:pPr indent="0" marL="0">
              <a:buNone/>
            </a:pPr>
            <a:r>
              <a:rPr lang="en-US" sz="1300" dirty="0">
                <a:solidFill>
                  <a:srgbClr val="F1F5F9"/>
                </a:solidFill>
              </a:rPr>
              <a:t>✓  Gerçek para riske atmadan piyasa deneyimi</a:t>
            </a:r>
            <a:endParaRPr lang="en-US" sz="1300" dirty="0"/>
          </a:p>
        </p:txBody>
      </p:sp>
      <p:sp>
        <p:nvSpPr>
          <p:cNvPr id="6" name="Text 4"/>
          <p:cNvSpPr/>
          <p:nvPr/>
        </p:nvSpPr>
        <p:spPr>
          <a:xfrm>
            <a:off x="457200" y="2423160"/>
            <a:ext cx="5029200" cy="384048"/>
          </a:xfrm>
          <a:prstGeom prst="rect">
            <a:avLst/>
          </a:prstGeom>
          <a:noFill/>
          <a:ln/>
        </p:spPr>
        <p:txBody>
          <a:bodyPr wrap="square" lIns="0" tIns="0" rIns="0" bIns="0" rtlCol="0" anchor="ctr"/>
          <a:lstStyle/>
          <a:p>
            <a:pPr indent="0" marL="0">
              <a:buNone/>
            </a:pPr>
            <a:r>
              <a:rPr lang="en-US" sz="1300" dirty="0">
                <a:solidFill>
                  <a:srgbClr val="94A3B8"/>
                </a:solidFill>
              </a:rPr>
              <a:t>✓  Programlama bilgisi gerektirmeyen AI bot üretimi</a:t>
            </a:r>
            <a:endParaRPr lang="en-US" sz="1300" dirty="0"/>
          </a:p>
        </p:txBody>
      </p:sp>
      <p:sp>
        <p:nvSpPr>
          <p:cNvPr id="7" name="Text 5"/>
          <p:cNvSpPr/>
          <p:nvPr/>
        </p:nvSpPr>
        <p:spPr>
          <a:xfrm>
            <a:off x="457200" y="2880360"/>
            <a:ext cx="5029200" cy="384048"/>
          </a:xfrm>
          <a:prstGeom prst="rect">
            <a:avLst/>
          </a:prstGeom>
          <a:noFill/>
          <a:ln/>
        </p:spPr>
        <p:txBody>
          <a:bodyPr wrap="square" lIns="0" tIns="0" rIns="0" bIns="0" rtlCol="0" anchor="ctr"/>
          <a:lstStyle/>
          <a:p>
            <a:pPr indent="0" marL="0">
              <a:buNone/>
            </a:pPr>
            <a:r>
              <a:rPr lang="en-US" sz="1300" dirty="0">
                <a:solidFill>
                  <a:srgbClr val="94A3B8"/>
                </a:solidFill>
              </a:rPr>
              <a:t>✓  Farklı stratejilerin bilimsel metriklerle karşılaştırılması</a:t>
            </a:r>
            <a:endParaRPr lang="en-US" sz="1300" dirty="0"/>
          </a:p>
        </p:txBody>
      </p:sp>
      <p:sp>
        <p:nvSpPr>
          <p:cNvPr id="8" name="Text 6"/>
          <p:cNvSpPr/>
          <p:nvPr/>
        </p:nvSpPr>
        <p:spPr>
          <a:xfrm>
            <a:off x="457200" y="3337560"/>
            <a:ext cx="5029200" cy="384048"/>
          </a:xfrm>
          <a:prstGeom prst="rect">
            <a:avLst/>
          </a:prstGeom>
          <a:noFill/>
          <a:ln/>
        </p:spPr>
        <p:txBody>
          <a:bodyPr wrap="square" lIns="0" tIns="0" rIns="0" bIns="0" rtlCol="0" anchor="ctr"/>
          <a:lstStyle/>
          <a:p>
            <a:pPr indent="0" marL="0">
              <a:buNone/>
            </a:pPr>
            <a:r>
              <a:rPr lang="en-US" sz="1300" dirty="0">
                <a:solidFill>
                  <a:srgbClr val="94A3B8"/>
                </a:solidFill>
              </a:rPr>
              <a:t>✓  Tamamen yerel çalışma — veri gizliliği garanti</a:t>
            </a:r>
            <a:endParaRPr lang="en-US" sz="1300" dirty="0"/>
          </a:p>
        </p:txBody>
      </p:sp>
      <p:sp>
        <p:nvSpPr>
          <p:cNvPr id="9" name="Shape 7"/>
          <p:cNvSpPr/>
          <p:nvPr/>
        </p:nvSpPr>
        <p:spPr>
          <a:xfrm>
            <a:off x="5486400" y="1325880"/>
            <a:ext cx="3291840" cy="3383280"/>
          </a:xfrm>
          <a:prstGeom prst="rect">
            <a:avLst/>
          </a:prstGeom>
          <a:solidFill>
            <a:srgbClr val="1A2F4A"/>
          </a:solidFill>
          <a:ln w="12700">
            <a:solidFill>
              <a:srgbClr val="1E3A5F"/>
            </a:solidFill>
            <a:prstDash val="solid"/>
          </a:ln>
        </p:spPr>
      </p:sp>
      <p:sp>
        <p:nvSpPr>
          <p:cNvPr id="10" name="Text 8"/>
          <p:cNvSpPr/>
          <p:nvPr/>
        </p:nvSpPr>
        <p:spPr>
          <a:xfrm>
            <a:off x="5577840" y="1417320"/>
            <a:ext cx="3108960" cy="347472"/>
          </a:xfrm>
          <a:prstGeom prst="rect">
            <a:avLst/>
          </a:prstGeom>
          <a:noFill/>
          <a:ln/>
        </p:spPr>
        <p:txBody>
          <a:bodyPr wrap="square" lIns="0" tIns="0" rIns="0" bIns="0" rtlCol="0" anchor="ctr"/>
          <a:lstStyle/>
          <a:p>
            <a:pPr indent="0" marL="0">
              <a:buNone/>
            </a:pPr>
            <a:r>
              <a:rPr lang="en-US" sz="1200" b="1" dirty="0">
                <a:solidFill>
                  <a:srgbClr val="22D3EE"/>
                </a:solidFill>
              </a:rPr>
              <a:t>Gelecek Planları</a:t>
            </a:r>
            <a:endParaRPr lang="en-US" sz="1200" dirty="0"/>
          </a:p>
        </p:txBody>
      </p:sp>
      <p:sp>
        <p:nvSpPr>
          <p:cNvPr id="11" name="Text 9"/>
          <p:cNvSpPr/>
          <p:nvPr/>
        </p:nvSpPr>
        <p:spPr>
          <a:xfrm>
            <a:off x="5577840" y="1874520"/>
            <a:ext cx="3108960" cy="457200"/>
          </a:xfrm>
          <a:prstGeom prst="rect">
            <a:avLst/>
          </a:prstGeom>
          <a:noFill/>
          <a:ln/>
        </p:spPr>
        <p:txBody>
          <a:bodyPr wrap="square" lIns="0" tIns="0" rIns="0" bIns="0" rtlCol="0" anchor="ctr"/>
          <a:lstStyle/>
          <a:p>
            <a:pPr indent="0" marL="0">
              <a:buNone/>
            </a:pPr>
            <a:r>
              <a:rPr lang="en-US" sz="1150" dirty="0">
                <a:solidFill>
                  <a:srgbClr val="94A3B8"/>
                </a:solidFill>
              </a:rPr>
              <a:t>🌐  Çoklu kripto para desteği</a:t>
            </a:r>
            <a:endParaRPr lang="en-US" sz="1150" dirty="0"/>
          </a:p>
        </p:txBody>
      </p:sp>
      <p:sp>
        <p:nvSpPr>
          <p:cNvPr id="12" name="Text 10"/>
          <p:cNvSpPr/>
          <p:nvPr/>
        </p:nvSpPr>
        <p:spPr>
          <a:xfrm>
            <a:off x="5577840" y="2404872"/>
            <a:ext cx="3108960" cy="457200"/>
          </a:xfrm>
          <a:prstGeom prst="rect">
            <a:avLst/>
          </a:prstGeom>
          <a:noFill/>
          <a:ln/>
        </p:spPr>
        <p:txBody>
          <a:bodyPr wrap="square" lIns="0" tIns="0" rIns="0" bIns="0" rtlCol="0" anchor="ctr"/>
          <a:lstStyle/>
          <a:p>
            <a:pPr indent="0" marL="0">
              <a:buNone/>
            </a:pPr>
            <a:r>
              <a:rPr lang="en-US" sz="1150" dirty="0">
                <a:solidFill>
                  <a:srgbClr val="94A3B8"/>
                </a:solidFill>
              </a:rPr>
              <a:t>☁️  Bulut tabanlı bot paylaşım platformu</a:t>
            </a:r>
            <a:endParaRPr lang="en-US" sz="1150" dirty="0"/>
          </a:p>
        </p:txBody>
      </p:sp>
      <p:sp>
        <p:nvSpPr>
          <p:cNvPr id="13" name="Text 11"/>
          <p:cNvSpPr/>
          <p:nvPr/>
        </p:nvSpPr>
        <p:spPr>
          <a:xfrm>
            <a:off x="5577840" y="2935224"/>
            <a:ext cx="3108960" cy="457200"/>
          </a:xfrm>
          <a:prstGeom prst="rect">
            <a:avLst/>
          </a:prstGeom>
          <a:noFill/>
          <a:ln/>
        </p:spPr>
        <p:txBody>
          <a:bodyPr wrap="square" lIns="0" tIns="0" rIns="0" bIns="0" rtlCol="0" anchor="ctr"/>
          <a:lstStyle/>
          <a:p>
            <a:pPr indent="0" marL="0">
              <a:buNone/>
            </a:pPr>
            <a:r>
              <a:rPr lang="en-US" sz="1150" dirty="0">
                <a:solidFill>
                  <a:srgbClr val="94A3B8"/>
                </a:solidFill>
              </a:rPr>
              <a:t>📱  Mobil uygulama</a:t>
            </a:r>
            <a:endParaRPr lang="en-US" sz="1150" dirty="0"/>
          </a:p>
        </p:txBody>
      </p:sp>
      <p:sp>
        <p:nvSpPr>
          <p:cNvPr id="14" name="Text 12"/>
          <p:cNvSpPr/>
          <p:nvPr/>
        </p:nvSpPr>
        <p:spPr>
          <a:xfrm>
            <a:off x="5577840" y="3465576"/>
            <a:ext cx="3108960" cy="457200"/>
          </a:xfrm>
          <a:prstGeom prst="rect">
            <a:avLst/>
          </a:prstGeom>
          <a:noFill/>
          <a:ln/>
        </p:spPr>
        <p:txBody>
          <a:bodyPr wrap="square" lIns="0" tIns="0" rIns="0" bIns="0" rtlCol="0" anchor="ctr"/>
          <a:lstStyle/>
          <a:p>
            <a:pPr indent="0" marL="0">
              <a:buNone/>
            </a:pPr>
            <a:r>
              <a:rPr lang="en-US" sz="1150" dirty="0">
                <a:solidFill>
                  <a:srgbClr val="94A3B8"/>
                </a:solidFill>
              </a:rPr>
              <a:t>🏆  Bot turnuva modu</a:t>
            </a:r>
            <a:endParaRPr lang="en-US" sz="1150" dirty="0"/>
          </a:p>
        </p:txBody>
      </p:sp>
      <p:sp>
        <p:nvSpPr>
          <p:cNvPr id="15" name="Text 13"/>
          <p:cNvSpPr/>
          <p:nvPr/>
        </p:nvSpPr>
        <p:spPr>
          <a:xfrm>
            <a:off x="5577840" y="3995928"/>
            <a:ext cx="3108960" cy="457200"/>
          </a:xfrm>
          <a:prstGeom prst="rect">
            <a:avLst/>
          </a:prstGeom>
          <a:noFill/>
          <a:ln/>
        </p:spPr>
        <p:txBody>
          <a:bodyPr wrap="square" lIns="0" tIns="0" rIns="0" bIns="0" rtlCol="0" anchor="ctr"/>
          <a:lstStyle/>
          <a:p>
            <a:pPr indent="0" marL="0">
              <a:buNone/>
            </a:pPr>
            <a:r>
              <a:rPr lang="en-US" sz="1150" dirty="0">
                <a:solidFill>
                  <a:srgbClr val="94A3B8"/>
                </a:solidFill>
              </a:rPr>
              <a:t>📡  Gerçek zamanlı borsa bağlantısı</a:t>
            </a:r>
            <a:endParaRPr lang="en-US" sz="1150" dirty="0"/>
          </a:p>
        </p:txBody>
      </p:sp>
      <p:sp>
        <p:nvSpPr>
          <p:cNvPr id="16" name="Shape 14"/>
          <p:cNvSpPr/>
          <p:nvPr/>
        </p:nvSpPr>
        <p:spPr>
          <a:xfrm>
            <a:off x="0" y="4773168"/>
            <a:ext cx="9144000" cy="370332"/>
          </a:xfrm>
          <a:prstGeom prst="rect">
            <a:avLst/>
          </a:prstGeom>
          <a:solidFill>
            <a:srgbClr val="F7931A"/>
          </a:solidFill>
          <a:ln w="12700">
            <a:solidFill>
              <a:srgbClr val="F7931A"/>
            </a:solidFill>
            <a:prstDash val="solid"/>
          </a:ln>
        </p:spPr>
      </p:sp>
      <p:sp>
        <p:nvSpPr>
          <p:cNvPr id="17" name="Text 15"/>
          <p:cNvSpPr/>
          <p:nvPr/>
        </p:nvSpPr>
        <p:spPr>
          <a:xfrm>
            <a:off x="0" y="4773168"/>
            <a:ext cx="9144000" cy="370332"/>
          </a:xfrm>
          <a:prstGeom prst="rect">
            <a:avLst/>
          </a:prstGeom>
          <a:noFill/>
          <a:ln/>
        </p:spPr>
        <p:txBody>
          <a:bodyPr wrap="square" lIns="0" tIns="0" rIns="0" bIns="0" rtlCol="0" anchor="ctr"/>
          <a:lstStyle/>
          <a:p>
            <a:pPr algn="ctr" indent="0" marL="0">
              <a:buNone/>
            </a:pPr>
            <a:r>
              <a:rPr lang="en-US" sz="1400" b="1" dirty="0">
                <a:solidFill>
                  <a:srgbClr val="FFFFFF"/>
                </a:solidFill>
              </a:rPr>
              <a:t>Sorularınız için teşekkür ederim. 🎤</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BTC Futures Trading Simulator</dc:title>
  <dc:subject>PptxGenJS Presentation</dc:subject>
  <dc:creator>BTC Simulator Team</dc:creator>
  <cp:lastModifiedBy>BTC Simulator Team</cp:lastModifiedBy>
  <cp:revision>1</cp:revision>
  <dcterms:created xsi:type="dcterms:W3CDTF">2026-05-16T18:02:09Z</dcterms:created>
  <dcterms:modified xsi:type="dcterms:W3CDTF">2026-05-16T18:02:09Z</dcterms:modified>
</cp:coreProperties>
</file>